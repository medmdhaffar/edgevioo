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f09e45d6ba2492d" /><Relationship Type="http://schemas.openxmlformats.org/officeDocument/2006/relationships/extended-properties" Target="/docProps/app.xml" Id="Rd604b8dc80e54a8b" /><Relationship Type="http://schemas.openxmlformats.org/officeDocument/2006/relationships/officeDocument" Target="/ppt/presentation.xml" Id="Rde6b92bac3a34f40" /></Relationships>
</file>

<file path=ppt/presentation.xml><?xml version="1.0" encoding="utf-8"?>
<p:presentation xmlns:p="http://schemas.openxmlformats.org/presentationml/2006/main">
  <p:sldMasterIdLst>
    <p:sldMasterId xmlns:r="http://schemas.openxmlformats.org/officeDocument/2006/relationships" id="2147483648" r:id="R4f081fc497b54222"/>
  </p:sldMasterIdLst>
  <p:notesMasterIdLst>
    <p:notesMasterId xmlns:r="http://schemas.openxmlformats.org/officeDocument/2006/relationships" r:id="R2a0687fe54c142b1"/>
  </p:notesMasterIdLst>
  <p:sldIdLst>
    <p:sldId xmlns:r="http://schemas.openxmlformats.org/officeDocument/2006/relationships" id="256" r:id="R3b0450bc88544818"/>
    <p:sldId xmlns:r="http://schemas.openxmlformats.org/officeDocument/2006/relationships" id="257" r:id="R1839687ba7f74c44"/>
    <p:sldId xmlns:r="http://schemas.openxmlformats.org/officeDocument/2006/relationships" id="258" r:id="R76932619dd1d4689"/>
    <p:sldId xmlns:r="http://schemas.openxmlformats.org/officeDocument/2006/relationships" id="259" r:id="Rf20e2d844148485b"/>
    <p:sldId xmlns:r="http://schemas.openxmlformats.org/officeDocument/2006/relationships" id="260" r:id="R8345e8c287654006"/>
    <p:sldId xmlns:r="http://schemas.openxmlformats.org/officeDocument/2006/relationships" id="261" r:id="Rd48a51d2ddf7445e"/>
    <p:sldId xmlns:r="http://schemas.openxmlformats.org/officeDocument/2006/relationships" id="262" r:id="R0c886ddf77b643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71566cb3d84b45" /><Relationship Type="http://schemas.openxmlformats.org/officeDocument/2006/relationships/slideMaster" Target="/ppt/slideMasters/slideMaster1.xml" Id="R4f081fc497b54222" /><Relationship Type="http://schemas.openxmlformats.org/officeDocument/2006/relationships/notesMaster" Target="/ppt/notesMasters/notesMaster1.xml" Id="R2a0687fe54c142b1" /><Relationship Type="http://schemas.openxmlformats.org/officeDocument/2006/relationships/presProps" Target="/ppt/presProps.xml" Id="R03b8728980f9434a" /><Relationship Type="http://schemas.openxmlformats.org/officeDocument/2006/relationships/tableStyles" Target="/ppt/tableStyles.xml" Id="R2e78e56316a5446c" /><Relationship Type="http://schemas.openxmlformats.org/officeDocument/2006/relationships/slide" Target="/ppt/slides/slide1.xml" Id="R3b0450bc88544818" /><Relationship Type="http://schemas.openxmlformats.org/officeDocument/2006/relationships/slide" Target="/ppt/slides/slide2.xml" Id="R1839687ba7f74c44" /><Relationship Type="http://schemas.openxmlformats.org/officeDocument/2006/relationships/slide" Target="/ppt/slides/slide3.xml" Id="R76932619dd1d4689" /><Relationship Type="http://schemas.openxmlformats.org/officeDocument/2006/relationships/slide" Target="/ppt/slides/slide4.xml" Id="Rf20e2d844148485b" /><Relationship Type="http://schemas.openxmlformats.org/officeDocument/2006/relationships/slide" Target="/ppt/slides/slide5.xml" Id="R8345e8c287654006" /><Relationship Type="http://schemas.openxmlformats.org/officeDocument/2006/relationships/slide" Target="/ppt/slides/slide6.xml" Id="Rd48a51d2ddf7445e" /><Relationship Type="http://schemas.openxmlformats.org/officeDocument/2006/relationships/slide" Target="/ppt/slides/slide7.xml" Id="R0c886ddf77b643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d10cf96e9f46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7c41cb6abb4790" /><Relationship Type="http://schemas.openxmlformats.org/officeDocument/2006/relationships/notesMaster" Target="/ppt/notesMasters/notesMaster1.xml" Id="R33462c0137f941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a05e6220894472" /><Relationship Type="http://schemas.openxmlformats.org/officeDocument/2006/relationships/notesMaster" Target="/ppt/notesMasters/notesMaster1.xml" Id="R7e6b2ed1155a45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841f68b6c147e8" /><Relationship Type="http://schemas.openxmlformats.org/officeDocument/2006/relationships/notesMaster" Target="/ppt/notesMasters/notesMaster1.xml" Id="Ra3d4d424fee847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5f29cd06f6468c" /><Relationship Type="http://schemas.openxmlformats.org/officeDocument/2006/relationships/notesMaster" Target="/ppt/notesMasters/notesMaster1.xml" Id="Re6aaa25d89644f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251f1d416d4026" /><Relationship Type="http://schemas.openxmlformats.org/officeDocument/2006/relationships/notesMaster" Target="/ppt/notesMasters/notesMaster1.xml" Id="Ra7855af85c3745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fe138d9e2542e9" /><Relationship Type="http://schemas.openxmlformats.org/officeDocument/2006/relationships/notesMaster" Target="/ppt/notesMasters/notesMaster1.xml" Id="Radf55b7263cc45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d6c832149847df" /><Relationship Type="http://schemas.openxmlformats.org/officeDocument/2006/relationships/notesMaster" Target="/ppt/notesMasters/notesMaster1.xml" Id="R1a86549dc4724a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exact checkpoint: runs/2026-09-29_p3full_cross. Explain that this deck follows the math from feature construction through training and inference. The benchmark model consumes precomputed features; it does not train the Swin extractor end-to-end.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features are precomputed Swin vectors with dimension 768 for each snippet. The visual extractor is frozen for this benchmark head.</a:t>
            </a:r>
          </a:p>
          <a:p xmlns:a="http://schemas.openxmlformats.org/drawingml/2006/main">
            <a:r>
              <a:t>Audio is decoded to 16 kHz mono. The STFT uses N=400 samples (25 ms) and hop H=160 samples (10 ms). H_b is the b-th mel filter. The code uses 64 mel bins and power-to-decibel conversion relative to the clip maximum.</a:t>
            </a:r>
          </a:p>
          <a:p xmlns:a="http://schemas.openxmlformats.org/drawingml/2006/main">
            <a:r>
              <a:t>The 132-d vector contains 64 per-band means and 64 per-band standard deviations plus four extra slots. Implementation caveat: flux is reduced to a clip-level average and repeated over patches; one extra slot is zero. Avoid claiming four independent patch-wise descriptors.</a:t>
            </a:r>
          </a:p>
          <a:p xmlns:a="http://schemas.openxmlformats.org/drawingml/2006/main">
            <a:r>
              <a:t>Audio patches are pooled onto the 64-frame video grid. Training-set means and standard deviations are used for feature normalization. References: scripts/extract_audio_features.py, safewatch/data/multimodal.py.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encoder is Conv1d(input,512,kernel=1), ReLU, Dropout(0.6), Conv1d(512,128,kernel=1), ReLU, Dropout(0.6), Conv1d(128,128,kernel=5,padding=2), ReLU.</a:t>
            </a:r>
          </a:p>
          <a:p xmlns:a="http://schemas.openxmlformats.org/drawingml/2006/main">
            <a:r>
              <a:t>The first two layers mix channels at each time step. The final layer mixes five neighboring time steps. Padding is symmetric, so this offline feature encoder can use neighboring future snippets near a time point.</a:t>
            </a:r>
          </a:p>
          <a:p xmlns:a="http://schemas.openxmlformats.org/drawingml/2006/main">
            <a:r>
              <a:t>The video and audio encoders are separate; each emits 128 dimensions per snippet.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learned linear projections. The scaled dot product gives pairwise temporal compatibility. Dividing by sqrt(d_k) keeps dot-product magnitudes controlled before softmax.</a:t>
            </a:r>
          </a:p>
          <a:p xmlns:a="http://schemas.openxmlformats.org/drawingml/2006/main">
            <a:r>
              <a:t>This implementation has two MultiheadAttention modules: visual queries audio, and audio queries visual. Each uses four heads of width 32, residual addition and LayerNorm.</a:t>
            </a:r>
          </a:p>
          <a:p xmlns:a="http://schemas.openxmlformats.org/drawingml/2006/main">
            <a:r>
              <a:t>Reliability nuance: the first reliability channel scales the audio keys and values used in the visual-query branch by sigmoid(r). The reverse branch uses the original audio embeddings. This is not the learned alpha gate in the adaptive variant.</a:t>
            </a:r>
          </a:p>
          <a:p xmlns:a="http://schemas.openxmlformats.org/drawingml/2006/main">
            <a:r>
              <a:t>The attention mechanism follows the standard Transformer scaled dot-product formula (Vaswani et al., 2017, https://arxiv.org/abs/1706.03762). The project code is safewatch/models/fusion.py.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snippet head is a 1x1 Conv1d from 128 dimensions to one logit. Its sigmoid score is the timeline value used by the evaluator.</a:t>
            </a:r>
          </a:p>
          <a:p xmlns:a="http://schemas.openxmlformats.org/drawingml/2006/main">
            <a:r>
              <a:t>The clip attention scorer is a learned linear score over h_t, followed by masked softmax. The pooled representation is a weighted sum. One linear head yields clip anomaly; another yields six multi-label logits.</a:t>
            </a:r>
          </a:p>
          <a:p xmlns:a="http://schemas.openxmlformats.org/drawingml/2006/main">
            <a:r>
              <a:t>The category order in the code is fighting, shooting, riot, abuse, car_accident, explosion. Six sigmoids are used rather than a softmax because labels can co-occur.</a:t>
            </a:r>
          </a:p>
          <a:p xmlns:a="http://schemas.openxmlformats.org/drawingml/2006/main">
            <a:r>
              <a:t>Attention weights are part of the model computation and can help visualize which snippets were weighted. They are not, by themselves, proof that the model used a human-interpretable causal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clip, pbag is the mean of the five largest valid snippet probabilities. k_eff is reduced for clips with fewer than five valid snippets.</a:t>
            </a:r>
          </a:p>
          <a:p xmlns:a="http://schemas.openxmlformats.org/drawingml/2006/main">
            <a:r>
              <a:t>LMIL is binary cross-entropy against the clip anomaly label. Latt is binary cross-entropy on the separate attention-pooled clip score. Lmulti is mean binary cross-entropy across six independent category outputs and the batch. This checkpoint uses no class positive weighting.</a:t>
            </a:r>
          </a:p>
          <a:p xmlns:a="http://schemas.openxmlformats.org/drawingml/2006/main">
            <a:r>
              <a:t>The configured total is LMIL + 0.5*Latt + 0.3*Lmulti. Training uses Adam, initial learning rate 1e-4, batch size 32, 30 epochs, and a learning-rate milestone at epoch 10 with gamma 0.1. The config uses 15% modality dropout.</a:t>
            </a:r>
          </a:p>
          <a:p xmlns:a="http://schemas.openxmlformats.org/drawingml/2006/main">
            <a:r>
              <a:t>The top-five surrogate assumes a positive clip should have some high-scoring snippets. It does not say which precise frames start or end the event. This follows the weak-label setting of Wu et al., XD-Violence, ECCV 2020 (https://www.ecva.net/papers/eccv_2020/papers_ECCV/papers/123750324.pdf), while the model architecture is project-specific.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uses per_class_clip_level_ap from runs/2026-09-29_p3full_cross/test_metrics.json: fighting .8408, shooting .5374, riot .9552, abuse .0171, car accident .9065, explosion .7662. Abuse has 11 positives in this test list, so its estimate is based on a small sample.</a:t>
            </a:r>
          </a:p>
          <a:p xmlns:a="http://schemas.openxmlformats.org/drawingml/2006/main">
            <a:r>
              <a:t>The same test_metrics file reports global__pr_auc=.798119, global__average_precision=.797052, and per_video__average_precision=.761273. These are different averaging protocols; do not label all of them simply 'AP' without specifying which.</a:t>
            </a:r>
          </a:p>
          <a:p xmlns:a="http://schemas.openxmlformats.org/drawingml/2006/main">
            <a:r>
              <a:t>The saved segment rule uses threshold 0.5, min_length=2 snippets, max_gap=1 snippet. At 64/24 seconds per snippet that becomes a 5.33-second minimum duration and a 2.67-second gap.</a:t>
            </a:r>
          </a:p>
          <a:p xmlns:a="http://schemas.openxmlformats.org/drawingml/2006/main">
            <a:r>
              <a:t>Localization segments are derived from scores after model inference. They are not outputs of a learned boundary regressor and training did not use temporal interval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7f96a0868442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82b02a149b4303" /><Relationship Type="http://schemas.openxmlformats.org/officeDocument/2006/relationships/slideLayout" Target="/ppt/slideLayouts/slideLayout1.xml" Id="R21284a88247741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284a88247741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2fe22b5959424e" /><Relationship Type="http://schemas.openxmlformats.org/officeDocument/2006/relationships/notesSlide" Target="/ppt/notesSlides/notesSlide1.xml" Id="R304b2a1c06c945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e1289f8cc942cd" /><Relationship Type="http://schemas.openxmlformats.org/officeDocument/2006/relationships/notesSlide" Target="/ppt/notesSlides/notesSlide2.xml" Id="Rbe4152dc537e4b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f0cb1ec87c4254" /><Relationship Type="http://schemas.openxmlformats.org/officeDocument/2006/relationships/notesSlide" Target="/ppt/notesSlides/notesSlide3.xml" Id="R3a8452d573bb4d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fb92ed248b4f54" /><Relationship Type="http://schemas.openxmlformats.org/officeDocument/2006/relationships/notesSlide" Target="/ppt/notesSlides/notesSlide4.xml" Id="Re042c9f7a5f149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008221f8d34574" /><Relationship Type="http://schemas.openxmlformats.org/officeDocument/2006/relationships/notesSlide" Target="/ppt/notesSlides/notesSlide5.xml" Id="R6551cb2f8a1c41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82bc96ca76493d" /><Relationship Type="http://schemas.openxmlformats.org/officeDocument/2006/relationships/notesSlide" Target="/ppt/notesSlides/notesSlide6.xml" Id="Rf4067c730bb142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0705b7f7934818" /><Relationship Type="http://schemas.openxmlformats.org/officeDocument/2006/relationships/chart" Target="/ppt/slides/charts/chart1.xml" Id="Rbef1c12a7f994af9" /><Relationship Type="http://schemas.openxmlformats.org/officeDocument/2006/relationships/notesSlide" Target="/ppt/notesSlides/notesSlide7.xml" Id="R9ec762706487440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Per-class AP</c:v>
          </c:tx>
          <c:spPr>
            <a:solidFill xmlns:a="http://schemas.openxmlformats.org/drawingml/2006/main">
              <a:srgbClr val="56D7CB"/>
            </a:solidFill>
          </c:spPr>
          <c:cat>
            <c:strRef>
              <c:f>'Chart Data'!$A$2:$A$7</c:f>
              <c:strCache>
                <c:ptCount val="6"/>
                <c:pt idx="0">
                  <c:v>Fighting</c:v>
                </c:pt>
                <c:pt idx="1">
                  <c:v>Shooting</c:v>
                </c:pt>
                <c:pt idx="2">
                  <c:v>Riot</c:v>
                </c:pt>
                <c:pt idx="3">
                  <c:v>Abuse</c:v>
                </c:pt>
                <c:pt idx="4">
                  <c:v>Car accident</c:v>
                </c:pt>
                <c:pt idx="5">
                  <c:v>Explosion</c:v>
                </c:pt>
              </c:strCache>
            </c:strRef>
          </c:cat>
          <c:val>
            <c:numRef>
              <c:f>'Chart Data'!$B$2:$B$7</c:f>
              <c:numCache>
                <c:formatCode>General</c:formatCode>
                <c:ptCount val="6"/>
                <c:pt idx="0">
                  <c:v>0.8408</c:v>
                </c:pt>
                <c:pt idx="1">
                  <c:v>0.5374</c:v>
                </c:pt>
                <c:pt idx="2">
                  <c:v>0.9552</c:v>
                </c:pt>
                <c:pt idx="3">
                  <c:v>0.0171</c:v>
                </c:pt>
                <c:pt idx="4">
                  <c:v>0.9065</c:v>
                </c:pt>
                <c:pt idx="5">
                  <c:v>0.7662</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F4F7F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56"/>
        <c:axId val="48650112"/>
        <c:axId val="48672768"/>
      </c:barChart>
      <c:catAx>
        <c:axId val="48650112"/>
        <c:scaling>
          <c:orientation val="minMax"/>
        </c:scaling>
        <c:delete val="0"/>
        <c:axPos val="l"/>
        <c:majorGridlines>
          <c:spPr>
            <a:ln xmlns:a="http://schemas.openxmlformats.org/drawingml/2006/main" w="9525">
              <a:solidFill>
                <a:srgbClr val="34445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B4C0D2"/>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DejaVu Sans"/>
                <a:ea typeface="DejaVu Sans"/>
                <a:cs typeface="DejaVu Sans"/>
              </a:defRPr>
            </a:pPr>
          </a:p>
        </c:txPr>
        <c:crossAx val="48650112"/>
        <c:crossBetween val="between"/>
      </c:valAx>
      <c:spPr>
        <a:solidFill xmlns:a="http://schemas.openxmlformats.org/drawingml/2006/main">
          <a:srgbClr val="0A1220"/>
        </a:solidFill>
        <a:ln xmlns:a="http://schemas.openxmlformats.org/drawingml/2006/main" w="0">
          <a:solidFill>
            <a:srgbClr val="0A1220"/>
          </a:solidFill>
        </a:ln>
      </c:spPr>
    </c:plotArea>
    <c:plotVisOnly val="1"/>
  </c:chart>
  <c:spPr>
    <a:solidFill xmlns:a="http://schemas.openxmlformats.org/drawingml/2006/main">
      <a:srgbClr val="0A1220"/>
    </a:solidFill>
    <a:ln xmlns:a="http://schemas.openxmlformats.org/drawingml/2006/main" w="0">
      <a:solidFill>
        <a:srgbClr val="0A1220"/>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C6FB3E-DE51-4835-8018-3D536F1245DB}"/>
              </a:ext>
            </a:extLst>
          </p:cNvPr>
          <p:cNvSpPr>
            <a:spLocks xmlns:a="http://schemas.openxmlformats.org/drawingml/2006/main" noGrp="1"/>
          </p:cNvSpPr>
          <p:nvPr/>
        </p:nvSpPr>
        <p:spPr>
          <a:xfrm xmlns:a="http://schemas.openxmlformats.org/drawingml/2006/main">
            <a:off x="723900" y="1047750"/>
            <a:ext cx="10744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200" b="1">
                <a:solidFill>
                  <a:srgbClr val="F4F7FB"/>
                </a:solidFill>
                <a:latin typeface="DejaVu Sans"/>
                <a:ea typeface="DejaVu Sans"/>
                <a:cs typeface="DejaVu Sans"/>
              </a:defRPr>
            </a:pPr>
            <a:r>
              <a:rPr sz="4200" b="1">
                <a:solidFill>
                  <a:srgbClr val="F4F7FB"/>
                </a:solidFill>
                <a:latin typeface="DejaVu Sans"/>
                <a:ea typeface="DejaVu Sans"/>
                <a:cs typeface="DejaVu Sans"/>
              </a:rPr>
              <a:t>SafeWatch Edge AI</a:t>
            </a:r>
          </a:p>
        </p:txBody>
      </p:sp>
      <p:sp>
        <p:nvSpPr>
          <p:cNvPr id="2" name="">
            <a:extLst xmlns:a="http://schemas.openxmlformats.org/drawingml/2006/main">
              <a:ext uri="{FF2B5EF4-FFF2-40B4-BE49-F238E27FC236}">
                <a16:creationId xmlns:a16="http://schemas.microsoft.com/office/drawing/2014/main" id="{5065C6CC-A756-41A2-BD2C-70221DF83E76}"/>
              </a:ext>
            </a:extLst>
          </p:cNvPr>
          <p:cNvSpPr>
            <a:spLocks xmlns:a="http://schemas.openxmlformats.org/drawingml/2006/main" noGrp="1"/>
          </p:cNvSpPr>
          <p:nvPr/>
        </p:nvSpPr>
        <p:spPr>
          <a:xfrm xmlns:a="http://schemas.openxmlformats.org/drawingml/2006/main">
            <a:off x="742950" y="19240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0">
                <a:solidFill>
                  <a:srgbClr val="56D7CB"/>
                </a:solidFill>
                <a:latin typeface="DejaVu Sans"/>
                <a:ea typeface="DejaVu Sans"/>
                <a:cs typeface="DejaVu Sans"/>
              </a:defRPr>
            </a:pPr>
            <a:r>
              <a:rPr sz="2550" b="0">
                <a:solidFill>
                  <a:srgbClr val="56D7CB"/>
                </a:solidFill>
                <a:latin typeface="DejaVu Sans"/>
                <a:ea typeface="DejaVu Sans"/>
                <a:cs typeface="DejaVu Sans"/>
              </a:rPr>
              <a:t>Mathematics of the audiovisual detector</a:t>
            </a:r>
          </a:p>
        </p:txBody>
      </p:sp>
      <p:sp>
        <p:nvSpPr>
          <p:cNvPr id="3" name="">
            <a:extLst xmlns:a="http://schemas.openxmlformats.org/drawingml/2006/main">
              <a:ext uri="{FF2B5EF4-FFF2-40B4-BE49-F238E27FC236}">
                <a16:creationId xmlns:a16="http://schemas.microsoft.com/office/drawing/2014/main" id="{DB0D45B6-63DA-4324-9C17-90BCC5FC6C64}"/>
              </a:ext>
            </a:extLst>
          </p:cNvPr>
          <p:cNvSpPr>
            <a:spLocks xmlns:a="http://schemas.openxmlformats.org/drawingml/2006/main" noGrp="1"/>
          </p:cNvSpPr>
          <p:nvPr/>
        </p:nvSpPr>
        <p:spPr>
          <a:xfrm xmlns:a="http://schemas.openxmlformats.org/drawingml/2006/main">
            <a:off x="762000" y="2647950"/>
            <a:ext cx="914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0">
                <a:solidFill>
                  <a:srgbClr val="B4C0D2"/>
                </a:solidFill>
                <a:latin typeface="DejaVu Sans"/>
                <a:ea typeface="DejaVu Sans"/>
                <a:cs typeface="DejaVu Sans"/>
              </a:defRPr>
            </a:pPr>
            <a:r>
              <a:rPr sz="1800" b="0">
                <a:solidFill>
                  <a:srgbClr val="B4C0D2"/>
                </a:solidFill>
                <a:latin typeface="DejaVu Sans"/>
                <a:ea typeface="DejaVu Sans"/>
                <a:cs typeface="DejaVu Sans"/>
              </a:rPr>
              <a:t>The p3full_cross benchmark model</a:t>
            </a:r>
          </a:p>
        </p:txBody>
      </p:sp>
      <p:sp>
        <p:nvSpPr>
          <p:cNvPr id="4" name="">
            <a:extLst xmlns:a="http://schemas.openxmlformats.org/drawingml/2006/main">
              <a:ext uri="{FF2B5EF4-FFF2-40B4-BE49-F238E27FC236}">
                <a16:creationId xmlns:a16="http://schemas.microsoft.com/office/drawing/2014/main" id="{5D725EA9-6ADC-4EBE-8F82-1900AB61B309}"/>
              </a:ext>
            </a:extLst>
          </p:cNvPr>
          <p:cNvSpPr>
            <a:spLocks xmlns:a="http://schemas.openxmlformats.org/drawingml/2006/main" noGrp="1"/>
          </p:cNvSpPr>
          <p:nvPr/>
        </p:nvSpPr>
        <p:spPr>
          <a:xfrm xmlns:a="http://schemas.openxmlformats.org/drawingml/2006/main">
            <a:off x="762000" y="3905250"/>
            <a:ext cx="10648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DCE7F5"/>
                </a:solidFill>
                <a:latin typeface="DejaVu Sans"/>
                <a:ea typeface="DejaVu Sans"/>
                <a:cs typeface="DejaVu Sans"/>
              </a:defRPr>
            </a:pPr>
            <a:r>
              <a:rPr sz="2025" b="0">
                <a:solidFill>
                  <a:srgbClr val="DCE7F5"/>
                </a:solidFill>
                <a:latin typeface="DejaVu Sans"/>
                <a:ea typeface="DejaVu Sans"/>
                <a:cs typeface="DejaVu Sans"/>
              </a:rPr>
              <a:t>V, A  →  temporal encoders  →  cross-attention  →  snippet and clip scores</a:t>
            </a:r>
          </a:p>
        </p:txBody>
      </p:sp>
      <p:sp>
        <p:nvSpPr>
          <p:cNvPr id="5" name="">
            <a:extLst xmlns:a="http://schemas.openxmlformats.org/drawingml/2006/main">
              <a:ext uri="{FF2B5EF4-FFF2-40B4-BE49-F238E27FC236}">
                <a16:creationId xmlns:a16="http://schemas.microsoft.com/office/drawing/2014/main" id="{1E1BB043-51A3-4DEB-8BFB-5763B36FB268}"/>
              </a:ext>
            </a:extLst>
          </p:cNvPr>
          <p:cNvSpPr>
            <a:spLocks xmlns:a="http://schemas.openxmlformats.org/drawingml/2006/main" noGrp="1"/>
          </p:cNvSpPr>
          <p:nvPr/>
        </p:nvSpPr>
        <p:spPr>
          <a:xfrm xmlns:a="http://schemas.openxmlformats.org/drawingml/2006/main">
            <a:off x="781050" y="47815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8291A7"/>
                </a:solidFill>
                <a:latin typeface="DejaVu Sans"/>
                <a:ea typeface="DejaVu Sans"/>
                <a:cs typeface="DejaVu Sans"/>
              </a:defRPr>
            </a:pPr>
            <a:r>
              <a:rPr sz="1650" b="0">
                <a:solidFill>
                  <a:srgbClr val="8291A7"/>
                </a:solidFill>
                <a:latin typeface="DejaVu Sans"/>
                <a:ea typeface="DejaVu Sans"/>
                <a:cs typeface="DejaVu Sans"/>
              </a:rPr>
              <a:t>VideoSwin 768-d  ·  log-mel 132-d  ·  weak clip-level supervision</a:t>
            </a:r>
          </a:p>
        </p:txBody>
      </p:sp>
      <p:sp>
        <p:nvSpPr>
          <p:cNvPr id="6" name="">
            <a:extLst xmlns:a="http://schemas.openxmlformats.org/drawingml/2006/main">
              <a:ext uri="{FF2B5EF4-FFF2-40B4-BE49-F238E27FC236}">
                <a16:creationId xmlns:a16="http://schemas.microsoft.com/office/drawing/2014/main" id="{C42089B4-3286-4B9D-B4C4-08262972C915}"/>
              </a:ext>
            </a:extLst>
          </p:cNvPr>
          <p:cNvSpPr>
            <a:spLocks xmlns:a="http://schemas.openxmlformats.org/drawingml/2006/main" noGrp="1"/>
          </p:cNvSpPr>
          <p:nvPr/>
        </p:nvSpPr>
        <p:spPr>
          <a:xfrm xmlns:a="http://schemas.openxmlformats.org/drawingml/2006/main">
            <a:off x="781050" y="61912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08 OCT 2026</a:t>
            </a:r>
          </a:p>
        </p:txBody>
      </p:sp>
    </p:spTree>
    <p:extLst>
      <p:ext uri="{BB962C8B-B14F-4D97-AF65-F5344CB8AC3E}">
        <p14:creationId xmlns:p14="http://schemas.microsoft.com/office/powerpoint/2010/main" val="1965322389"/>
      </p:ext>
    </p:extLst>
  </p:cSld>
</p:sld>
</file>

<file path=ppt/slides/slide2.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9" name="slide-2-title">
            <a:extLst xmlns:a="http://schemas.openxmlformats.org/drawingml/2006/main">
              <a:ext uri="{FF2B5EF4-FFF2-40B4-BE49-F238E27FC236}">
                <a16:creationId xmlns:a16="http://schemas.microsoft.com/office/drawing/2014/main" id="{07082B5F-FEF1-4EBC-987C-2F0DB962868B}"/>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Feature construction and alignment</a:t>
            </a:r>
          </a:p>
        </p:txBody>
      </p:sp>
      <p:sp>
        <p:nvSpPr>
          <p:cNvPr id="2" name="">
            <a:extLst xmlns:a="http://schemas.openxmlformats.org/drawingml/2006/main">
              <a:ext uri="{FF2B5EF4-FFF2-40B4-BE49-F238E27FC236}">
                <a16:creationId xmlns:a16="http://schemas.microsoft.com/office/drawing/2014/main" id="{A18B2EDA-AAF7-46D9-8731-5281DAE3EA4F}"/>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Each training example becomes two sequences with the same time index t.</a:t>
            </a:r>
          </a:p>
        </p:txBody>
      </p:sp>
      <p:sp>
        <p:nvSpPr>
          <p:cNvPr id="3" name="">
            <a:extLst xmlns:a="http://schemas.openxmlformats.org/drawingml/2006/main">
              <a:ext uri="{FF2B5EF4-FFF2-40B4-BE49-F238E27FC236}">
                <a16:creationId xmlns:a16="http://schemas.microsoft.com/office/drawing/2014/main" id="{7FF0CF09-1870-4045-ABE5-9F48F864BF8C}"/>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02</a:t>
            </a:r>
          </a:p>
        </p:txBody>
      </p:sp>
      <p:sp>
        <p:nvSpPr>
          <p:cNvPr id="4" name="">
            <a:extLst xmlns:a="http://schemas.openxmlformats.org/drawingml/2006/main">
              <a:ext uri="{FF2B5EF4-FFF2-40B4-BE49-F238E27FC236}">
                <a16:creationId xmlns:a16="http://schemas.microsoft.com/office/drawing/2014/main" id="{55FAC263-22F0-4C99-86F0-B67EBDDC9C74}"/>
              </a:ext>
            </a:extLst>
          </p:cNvPr>
          <p:cNvSpPr>
            <a:spLocks xmlns:a="http://schemas.openxmlformats.org/drawingml/2006/main" noGrp="1"/>
          </p:cNvSpPr>
          <p:nvPr/>
        </p:nvSpPr>
        <p:spPr>
          <a:xfrm xmlns:a="http://schemas.openxmlformats.org/drawingml/2006/main">
            <a:off x="742950" y="1524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56D7CB"/>
                </a:solidFill>
                <a:latin typeface="DejaVu Sans"/>
                <a:ea typeface="DejaVu Sans"/>
                <a:cs typeface="DejaVu Sans"/>
              </a:defRPr>
            </a:pPr>
            <a:r>
              <a:rPr sz="1350" b="1">
                <a:solidFill>
                  <a:srgbClr val="56D7CB"/>
                </a:solidFill>
                <a:latin typeface="DejaVu Sans"/>
                <a:ea typeface="DejaVu Sans"/>
                <a:cs typeface="DejaVu Sans"/>
              </a:rPr>
              <a:t>VIDEO</a:t>
            </a:r>
          </a:p>
        </p:txBody>
      </p:sp>
      <p:sp>
        <p:nvSpPr>
          <p:cNvPr id="5" name="">
            <a:extLst xmlns:a="http://schemas.openxmlformats.org/drawingml/2006/main">
              <a:ext uri="{FF2B5EF4-FFF2-40B4-BE49-F238E27FC236}">
                <a16:creationId xmlns:a16="http://schemas.microsoft.com/office/drawing/2014/main" id="{F972794A-FC8C-44B5-A007-E651D20CE240}"/>
              </a:ext>
            </a:extLst>
          </p:cNvPr>
          <p:cNvSpPr>
            <a:spLocks xmlns:a="http://schemas.openxmlformats.org/drawingml/2006/main" noGrp="1"/>
          </p:cNvSpPr>
          <p:nvPr/>
        </p:nvSpPr>
        <p:spPr>
          <a:xfrm xmlns:a="http://schemas.openxmlformats.org/drawingml/2006/main">
            <a:off x="742950" y="1857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F4F7FB"/>
                </a:solidFill>
                <a:latin typeface="DejaVu Sans"/>
                <a:ea typeface="DejaVu Sans"/>
                <a:cs typeface="DejaVu Sans"/>
              </a:defRPr>
            </a:pPr>
            <a:r>
              <a:rPr sz="2025" b="1">
                <a:solidFill>
                  <a:srgbClr val="F4F7FB"/>
                </a:solidFill>
                <a:latin typeface="DejaVu Sans"/>
                <a:ea typeface="DejaVu Sans"/>
                <a:cs typeface="DejaVu Sans"/>
              </a:rPr>
              <a:t>V = [v₁,…,vT] ∈ ℝᵀˣ⁷⁶⁸</a:t>
            </a:r>
          </a:p>
        </p:txBody>
      </p:sp>
      <p:sp>
        <p:nvSpPr>
          <p:cNvPr id="6" name="">
            <a:extLst xmlns:a="http://schemas.openxmlformats.org/drawingml/2006/main">
              <a:ext uri="{FF2B5EF4-FFF2-40B4-BE49-F238E27FC236}">
                <a16:creationId xmlns:a16="http://schemas.microsoft.com/office/drawing/2014/main" id="{3F75BE48-86E4-4359-9265-A9F1657EC90B}"/>
              </a:ext>
            </a:extLst>
          </p:cNvPr>
          <p:cNvSpPr>
            <a:spLocks xmlns:a="http://schemas.openxmlformats.org/drawingml/2006/main" noGrp="1"/>
          </p:cNvSpPr>
          <p:nvPr/>
        </p:nvSpPr>
        <p:spPr>
          <a:xfrm xmlns:a="http://schemas.openxmlformats.org/drawingml/2006/main">
            <a:off x="762000" y="23241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Frozen Swin descriptor per video snippet</a:t>
            </a:r>
          </a:p>
        </p:txBody>
      </p:sp>
      <p:sp>
        <p:nvSpPr>
          <p:cNvPr id="7" name="">
            <a:extLst xmlns:a="http://schemas.openxmlformats.org/drawingml/2006/main">
              <a:ext uri="{FF2B5EF4-FFF2-40B4-BE49-F238E27FC236}">
                <a16:creationId xmlns:a16="http://schemas.microsoft.com/office/drawing/2014/main" id="{9C1C49D1-06D1-4531-B6DF-9775F1645655}"/>
              </a:ext>
            </a:extLst>
          </p:cNvPr>
          <p:cNvSpPr>
            <a:spLocks xmlns:a="http://schemas.openxmlformats.org/drawingml/2006/main" noGrp="1"/>
          </p:cNvSpPr>
          <p:nvPr/>
        </p:nvSpPr>
        <p:spPr>
          <a:xfrm xmlns:a="http://schemas.openxmlformats.org/drawingml/2006/main">
            <a:off x="6477000" y="1524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F4C66A"/>
                </a:solidFill>
                <a:latin typeface="DejaVu Sans"/>
                <a:ea typeface="DejaVu Sans"/>
                <a:cs typeface="DejaVu Sans"/>
              </a:defRPr>
            </a:pPr>
            <a:r>
              <a:rPr sz="1350" b="1">
                <a:solidFill>
                  <a:srgbClr val="F4C66A"/>
                </a:solidFill>
                <a:latin typeface="DejaVu Sans"/>
                <a:ea typeface="DejaVu Sans"/>
                <a:cs typeface="DejaVu Sans"/>
              </a:rPr>
              <a:t>AUDIO</a:t>
            </a:r>
          </a:p>
        </p:txBody>
      </p:sp>
      <p:sp>
        <p:nvSpPr>
          <p:cNvPr id="8" name="">
            <a:extLst xmlns:a="http://schemas.openxmlformats.org/drawingml/2006/main">
              <a:ext uri="{FF2B5EF4-FFF2-40B4-BE49-F238E27FC236}">
                <a16:creationId xmlns:a16="http://schemas.microsoft.com/office/drawing/2014/main" id="{2C808D81-65A0-496B-A194-B6C5770E4982}"/>
              </a:ext>
            </a:extLst>
          </p:cNvPr>
          <p:cNvSpPr>
            <a:spLocks xmlns:a="http://schemas.openxmlformats.org/drawingml/2006/main" noGrp="1"/>
          </p:cNvSpPr>
          <p:nvPr/>
        </p:nvSpPr>
        <p:spPr>
          <a:xfrm xmlns:a="http://schemas.openxmlformats.org/drawingml/2006/main">
            <a:off x="6477000" y="18478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4F7FB"/>
                </a:solidFill>
                <a:latin typeface="DejaVu Sans"/>
                <a:ea typeface="DejaVu Sans"/>
                <a:cs typeface="DejaVu Sans"/>
              </a:defRPr>
            </a:pPr>
            <a:r>
              <a:rPr sz="1650" b="1">
                <a:solidFill>
                  <a:srgbClr val="F4F7FB"/>
                </a:solidFill>
                <a:latin typeface="DejaVu Sans"/>
                <a:ea typeface="DejaVu Sans"/>
                <a:cs typeface="DejaVu Sans"/>
              </a:rPr>
              <a:t>Xₘₖ = Σₙ₌₀³⁹⁹ x[n+160m]w[n]e⁻ʲ²πkn/400</a:t>
            </a:r>
          </a:p>
        </p:txBody>
      </p:sp>
      <p:sp>
        <p:nvSpPr>
          <p:cNvPr id="9" name="">
            <a:extLst xmlns:a="http://schemas.openxmlformats.org/drawingml/2006/main">
              <a:ext uri="{FF2B5EF4-FFF2-40B4-BE49-F238E27FC236}">
                <a16:creationId xmlns:a16="http://schemas.microsoft.com/office/drawing/2014/main" id="{2EA2FE2D-FC6F-416F-978B-F287F7DFF991}"/>
              </a:ext>
            </a:extLst>
          </p:cNvPr>
          <p:cNvSpPr>
            <a:spLocks xmlns:a="http://schemas.openxmlformats.org/drawingml/2006/main" noGrp="1"/>
          </p:cNvSpPr>
          <p:nvPr/>
        </p:nvSpPr>
        <p:spPr>
          <a:xfrm xmlns:a="http://schemas.openxmlformats.org/drawingml/2006/main">
            <a:off x="6477000" y="2381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0">
                <a:solidFill>
                  <a:srgbClr val="DCE7F5"/>
                </a:solidFill>
                <a:latin typeface="DejaVu Sans"/>
                <a:ea typeface="DejaVu Sans"/>
                <a:cs typeface="DejaVu Sans"/>
              </a:defRPr>
            </a:pPr>
            <a:r>
              <a:rPr sz="1725" b="0">
                <a:solidFill>
                  <a:srgbClr val="DCE7F5"/>
                </a:solidFill>
                <a:latin typeface="DejaVu Sans"/>
                <a:ea typeface="DejaVu Sans"/>
                <a:cs typeface="DejaVu Sans"/>
              </a:rPr>
              <a:t>Pᵦₘ = Σₖ Hᵦ[k]|Xₘₖ|²</a:t>
            </a:r>
          </a:p>
        </p:txBody>
      </p:sp>
      <p:sp>
        <p:nvSpPr>
          <p:cNvPr id="10" name="">
            <a:extLst xmlns:a="http://schemas.openxmlformats.org/drawingml/2006/main">
              <a:ext uri="{FF2B5EF4-FFF2-40B4-BE49-F238E27FC236}">
                <a16:creationId xmlns:a16="http://schemas.microsoft.com/office/drawing/2014/main" id="{D61D9B67-0884-4D70-8CD7-E09C019A8BB8}"/>
              </a:ext>
            </a:extLst>
          </p:cNvPr>
          <p:cNvSpPr>
            <a:spLocks xmlns:a="http://schemas.openxmlformats.org/drawingml/2006/main" noGrp="1"/>
          </p:cNvSpPr>
          <p:nvPr/>
        </p:nvSpPr>
        <p:spPr>
          <a:xfrm xmlns:a="http://schemas.openxmlformats.org/drawingml/2006/main">
            <a:off x="6477000" y="27527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0">
                <a:solidFill>
                  <a:srgbClr val="DCE7F5"/>
                </a:solidFill>
                <a:latin typeface="DejaVu Sans"/>
                <a:ea typeface="DejaVu Sans"/>
                <a:cs typeface="DejaVu Sans"/>
              </a:defRPr>
            </a:pPr>
            <a:r>
              <a:rPr sz="1725" b="0">
                <a:solidFill>
                  <a:srgbClr val="DCE7F5"/>
                </a:solidFill>
                <a:latin typeface="DejaVu Sans"/>
                <a:ea typeface="DejaVu Sans"/>
                <a:cs typeface="DejaVu Sans"/>
              </a:rPr>
              <a:t>Mᵦₘ = 10 log₁₀(Pᵦₘ / Pᵣₑ𝒻)</a:t>
            </a:r>
          </a:p>
        </p:txBody>
      </p:sp>
      <p:sp>
        <p:nvSpPr>
          <p:cNvPr id="11" name="">
            <a:extLst xmlns:a="http://schemas.openxmlformats.org/drawingml/2006/main">
              <a:ext uri="{FF2B5EF4-FFF2-40B4-BE49-F238E27FC236}">
                <a16:creationId xmlns:a16="http://schemas.microsoft.com/office/drawing/2014/main" id="{94930DB1-BA26-4C06-B040-BEFE05F36C87}"/>
              </a:ext>
            </a:extLst>
          </p:cNvPr>
          <p:cNvSpPr>
            <a:spLocks xmlns:a="http://schemas.openxmlformats.org/drawingml/2006/main" noGrp="1"/>
          </p:cNvSpPr>
          <p:nvPr/>
        </p:nvSpPr>
        <p:spPr>
          <a:xfrm xmlns:a="http://schemas.openxmlformats.org/drawingml/2006/main">
            <a:off x="6496050" y="319087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0">
                <a:solidFill>
                  <a:srgbClr val="B4C0D2"/>
                </a:solidFill>
                <a:latin typeface="DejaVu Sans"/>
                <a:ea typeface="DejaVu Sans"/>
                <a:cs typeface="DejaVu Sans"/>
              </a:defRPr>
            </a:pPr>
            <a:r>
              <a:rPr sz="1425" b="0">
                <a:solidFill>
                  <a:srgbClr val="B4C0D2"/>
                </a:solidFill>
                <a:latin typeface="DejaVu Sans"/>
                <a:ea typeface="DejaVu Sans"/>
                <a:cs typeface="DejaVu Sans"/>
              </a:rPr>
              <a:t>64 mel bands · 96 frames per patch · 0.96 s</a:t>
            </a:r>
          </a:p>
        </p:txBody>
      </p:sp>
      <p:sp>
        <p:nvSpPr>
          <p:cNvPr id="12" name="">
            <a:extLst xmlns:a="http://schemas.openxmlformats.org/drawingml/2006/main">
              <a:ext uri="{FF2B5EF4-FFF2-40B4-BE49-F238E27FC236}">
                <a16:creationId xmlns:a16="http://schemas.microsoft.com/office/drawing/2014/main" id="{61D8BB67-3BCE-440B-897A-793B268722A4}"/>
              </a:ext>
            </a:extLst>
          </p:cNvPr>
          <p:cNvSpPr>
            <a:spLocks xmlns:a="http://schemas.openxmlformats.org/drawingml/2006/main" noGrp="1"/>
          </p:cNvSpPr>
          <p:nvPr/>
        </p:nvSpPr>
        <p:spPr>
          <a:xfrm xmlns:a="http://schemas.openxmlformats.org/drawingml/2006/main">
            <a:off x="762000" y="3857625"/>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μᵦ = (1/96) Σₘ Mᵦₘ</a:t>
            </a:r>
          </a:p>
        </p:txBody>
      </p:sp>
      <p:sp>
        <p:nvSpPr>
          <p:cNvPr id="13" name="">
            <a:extLst xmlns:a="http://schemas.openxmlformats.org/drawingml/2006/main">
              <a:ext uri="{FF2B5EF4-FFF2-40B4-BE49-F238E27FC236}">
                <a16:creationId xmlns:a16="http://schemas.microsoft.com/office/drawing/2014/main" id="{DB99AE9E-CB88-441C-AA53-148A5A84B18E}"/>
              </a:ext>
            </a:extLst>
          </p:cNvPr>
          <p:cNvSpPr>
            <a:spLocks xmlns:a="http://schemas.openxmlformats.org/drawingml/2006/main" noGrp="1"/>
          </p:cNvSpPr>
          <p:nvPr/>
        </p:nvSpPr>
        <p:spPr>
          <a:xfrm xmlns:a="http://schemas.openxmlformats.org/drawingml/2006/main">
            <a:off x="762000" y="42957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σᵦ = √[(1/96) Σₘ (Mᵦₘ − μᵦ)²]</a:t>
            </a:r>
          </a:p>
        </p:txBody>
      </p:sp>
      <p:sp>
        <p:nvSpPr>
          <p:cNvPr id="14" name="">
            <a:extLst xmlns:a="http://schemas.openxmlformats.org/drawingml/2006/main">
              <a:ext uri="{FF2B5EF4-FFF2-40B4-BE49-F238E27FC236}">
                <a16:creationId xmlns:a16="http://schemas.microsoft.com/office/drawing/2014/main" id="{8E1FD153-DF3F-4EB6-A8F9-A1D3B784897B}"/>
              </a:ext>
            </a:extLst>
          </p:cNvPr>
          <p:cNvSpPr>
            <a:spLocks xmlns:a="http://schemas.openxmlformats.org/drawingml/2006/main" noGrp="1"/>
          </p:cNvSpPr>
          <p:nvPr/>
        </p:nvSpPr>
        <p:spPr>
          <a:xfrm xmlns:a="http://schemas.openxmlformats.org/drawingml/2006/main">
            <a:off x="762000" y="49053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56D7CB"/>
                </a:solidFill>
                <a:latin typeface="DejaVu Sans"/>
                <a:ea typeface="DejaVu Sans"/>
                <a:cs typeface="DejaVu Sans"/>
              </a:defRPr>
            </a:pPr>
            <a:r>
              <a:rPr sz="1650" b="1">
                <a:solidFill>
                  <a:srgbClr val="56D7CB"/>
                </a:solidFill>
                <a:latin typeface="DejaVu Sans"/>
                <a:ea typeface="DejaVu Sans"/>
                <a:cs typeface="DejaVu Sans"/>
              </a:rPr>
              <a:t>64 means + 64 standard deviations + 4 extra slots = 132 features</a:t>
            </a:r>
          </a:p>
        </p:txBody>
      </p:sp>
      <p:sp>
        <p:nvSpPr>
          <p:cNvPr id="15" name="">
            <a:extLst xmlns:a="http://schemas.openxmlformats.org/drawingml/2006/main">
              <a:ext uri="{FF2B5EF4-FFF2-40B4-BE49-F238E27FC236}">
                <a16:creationId xmlns:a16="http://schemas.microsoft.com/office/drawing/2014/main" id="{9FA768BB-C255-4DDA-9C8E-93218266FED5}"/>
              </a:ext>
            </a:extLst>
          </p:cNvPr>
          <p:cNvSpPr>
            <a:spLocks xmlns:a="http://schemas.openxmlformats.org/drawingml/2006/main" noGrp="1"/>
          </p:cNvSpPr>
          <p:nvPr/>
        </p:nvSpPr>
        <p:spPr>
          <a:xfrm xmlns:a="http://schemas.openxmlformats.org/drawingml/2006/main">
            <a:off x="6477000" y="38576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F4C66A"/>
                </a:solidFill>
                <a:latin typeface="DejaVu Sans"/>
                <a:ea typeface="DejaVu Sans"/>
                <a:cs typeface="DejaVu Sans"/>
              </a:defRPr>
            </a:pPr>
            <a:r>
              <a:rPr sz="1800" b="1">
                <a:solidFill>
                  <a:srgbClr val="F4C66A"/>
                </a:solidFill>
                <a:latin typeface="DejaVu Sans"/>
                <a:ea typeface="DejaVu Sans"/>
                <a:cs typeface="DejaVu Sans"/>
              </a:rPr>
              <a:t>Δtᵥ = 64/24 = 2.67 s</a:t>
            </a:r>
          </a:p>
        </p:txBody>
      </p:sp>
      <p:sp>
        <p:nvSpPr>
          <p:cNvPr id="16" name="">
            <a:extLst xmlns:a="http://schemas.openxmlformats.org/drawingml/2006/main">
              <a:ext uri="{FF2B5EF4-FFF2-40B4-BE49-F238E27FC236}">
                <a16:creationId xmlns:a16="http://schemas.microsoft.com/office/drawing/2014/main" id="{4646B0FE-AA90-44C4-AB5D-C8059EC84784}"/>
              </a:ext>
            </a:extLst>
          </p:cNvPr>
          <p:cNvSpPr>
            <a:spLocks xmlns:a="http://schemas.openxmlformats.org/drawingml/2006/main" noGrp="1"/>
          </p:cNvSpPr>
          <p:nvPr/>
        </p:nvSpPr>
        <p:spPr>
          <a:xfrm xmlns:a="http://schemas.openxmlformats.org/drawingml/2006/main">
            <a:off x="6477000" y="4286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02"/>
          </a:bodyPr>
          <a:lstStyle xmlns:a="http://schemas.openxmlformats.org/drawingml/2006/main"/>
          <a:p xmlns:a="http://schemas.openxmlformats.org/drawingml/2006/main">
            <a:pPr>
              <a:defRPr sz="1650" b="0">
                <a:solidFill>
                  <a:srgbClr val="F4F7FB"/>
                </a:solidFill>
                <a:latin typeface="DejaVu Sans"/>
                <a:ea typeface="DejaVu Sans"/>
                <a:cs typeface="DejaVu Sans"/>
              </a:defRPr>
            </a:pPr>
            <a:r>
              <a:rPr sz="1650" b="0">
                <a:solidFill>
                  <a:srgbClr val="F4F7FB"/>
                </a:solidFill>
                <a:latin typeface="DejaVu Sans"/>
                <a:ea typeface="DejaVu Sans"/>
                <a:cs typeface="DejaVu Sans"/>
              </a:rPr>
              <a:t>patches per video snippet = 2.67/0.96 ≈ 2.78</a:t>
            </a:r>
          </a:p>
        </p:txBody>
      </p:sp>
      <p:sp>
        <p:nvSpPr>
          <p:cNvPr id="17" name="">
            <a:extLst xmlns:a="http://schemas.openxmlformats.org/drawingml/2006/main">
              <a:ext uri="{FF2B5EF4-FFF2-40B4-BE49-F238E27FC236}">
                <a16:creationId xmlns:a16="http://schemas.microsoft.com/office/drawing/2014/main" id="{9575B9BB-794B-4B68-BF42-52B566AB0D3F}"/>
              </a:ext>
            </a:extLst>
          </p:cNvPr>
          <p:cNvSpPr>
            <a:spLocks xmlns:a="http://schemas.openxmlformats.org/drawingml/2006/main" noGrp="1"/>
          </p:cNvSpPr>
          <p:nvPr/>
        </p:nvSpPr>
        <p:spPr>
          <a:xfrm xmlns:a="http://schemas.openxmlformats.org/drawingml/2006/main">
            <a:off x="6477000" y="46958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aₜ = (1/|Pₜ|) Σₚ∈Pₜ aₚ</a:t>
            </a:r>
          </a:p>
        </p:txBody>
      </p:sp>
      <p:sp>
        <p:nvSpPr>
          <p:cNvPr id="18" name="">
            <a:extLst xmlns:a="http://schemas.openxmlformats.org/drawingml/2006/main">
              <a:ext uri="{FF2B5EF4-FFF2-40B4-BE49-F238E27FC236}">
                <a16:creationId xmlns:a16="http://schemas.microsoft.com/office/drawing/2014/main" id="{A34AABEC-550E-472B-AAC1-87223EFD2DA8}"/>
              </a:ext>
            </a:extLst>
          </p:cNvPr>
          <p:cNvSpPr>
            <a:spLocks xmlns:a="http://schemas.openxmlformats.org/drawingml/2006/main" noGrp="1"/>
          </p:cNvSpPr>
          <p:nvPr/>
        </p:nvSpPr>
        <p:spPr>
          <a:xfrm xmlns:a="http://schemas.openxmlformats.org/drawingml/2006/main">
            <a:off x="762000" y="5429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âₜⱼ = (aₜⱼ − μⱼ(train)) / max(σⱼ(train), 10⁻⁶)</a:t>
            </a:r>
          </a:p>
        </p:txBody>
      </p:sp>
    </p:spTree>
    <p:extLst>
      <p:ext uri="{BB962C8B-B14F-4D97-AF65-F5344CB8AC3E}">
        <p14:creationId xmlns:p14="http://schemas.microsoft.com/office/powerpoint/2010/main" val="377643100"/>
      </p:ext>
    </p:extLst>
  </p:cSld>
</p:sld>
</file>

<file path=ppt/slides/slide3.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3" name="slide-3-title">
            <a:extLst xmlns:a="http://schemas.openxmlformats.org/drawingml/2006/main">
              <a:ext uri="{FF2B5EF4-FFF2-40B4-BE49-F238E27FC236}">
                <a16:creationId xmlns:a16="http://schemas.microsoft.com/office/drawing/2014/main" id="{E321246F-627D-4F10-BFC6-2ACA34221241}"/>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Temporal encoders</a:t>
            </a:r>
          </a:p>
        </p:txBody>
      </p:sp>
      <p:sp>
        <p:nvSpPr>
          <p:cNvPr id="2" name="">
            <a:extLst xmlns:a="http://schemas.openxmlformats.org/drawingml/2006/main">
              <a:ext uri="{FF2B5EF4-FFF2-40B4-BE49-F238E27FC236}">
                <a16:creationId xmlns:a16="http://schemas.microsoft.com/office/drawing/2014/main" id="{DDDE9100-82CB-4E8B-8A56-0D6E8AD3037D}"/>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Separate convolution stacks map both modalities into a shared 128-dimensional space.</a:t>
            </a:r>
          </a:p>
        </p:txBody>
      </p:sp>
      <p:sp>
        <p:nvSpPr>
          <p:cNvPr id="3" name="">
            <a:extLst xmlns:a="http://schemas.openxmlformats.org/drawingml/2006/main">
              <a:ext uri="{FF2B5EF4-FFF2-40B4-BE49-F238E27FC236}">
                <a16:creationId xmlns:a16="http://schemas.microsoft.com/office/drawing/2014/main" id="{11F13C71-AB48-4406-8494-F275757D567A}"/>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03</a:t>
            </a:r>
          </a:p>
        </p:txBody>
      </p:sp>
      <p:sp>
        <p:nvSpPr>
          <p:cNvPr id="4" name="">
            <a:extLst xmlns:a="http://schemas.openxmlformats.org/drawingml/2006/main">
              <a:ext uri="{FF2B5EF4-FFF2-40B4-BE49-F238E27FC236}">
                <a16:creationId xmlns:a16="http://schemas.microsoft.com/office/drawing/2014/main" id="{948C8CF5-CED4-4EF1-AB64-C6D73A4903E0}"/>
              </a:ext>
            </a:extLst>
          </p:cNvPr>
          <p:cNvSpPr>
            <a:spLocks xmlns:a="http://schemas.openxmlformats.org/drawingml/2006/main" noGrp="1"/>
          </p:cNvSpPr>
          <p:nvPr/>
        </p:nvSpPr>
        <p:spPr>
          <a:xfrm xmlns:a="http://schemas.openxmlformats.org/drawingml/2006/main">
            <a:off x="781050" y="16478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56D7CB"/>
                </a:solidFill>
                <a:latin typeface="DejaVu Sans"/>
                <a:ea typeface="DejaVu Sans"/>
                <a:cs typeface="DejaVu Sans"/>
              </a:defRPr>
            </a:pPr>
            <a:r>
              <a:rPr sz="2100" b="1">
                <a:solidFill>
                  <a:srgbClr val="56D7CB"/>
                </a:solidFill>
                <a:latin typeface="DejaVu Sans"/>
                <a:ea typeface="DejaVu Sans"/>
                <a:cs typeface="DejaVu Sans"/>
              </a:rPr>
              <a:t>Hᵥ = fᵥ(V) ∈ ℝᵀˣ¹²⁸</a:t>
            </a:r>
          </a:p>
        </p:txBody>
      </p:sp>
      <p:sp>
        <p:nvSpPr>
          <p:cNvPr id="5" name="">
            <a:extLst xmlns:a="http://schemas.openxmlformats.org/drawingml/2006/main">
              <a:ext uri="{FF2B5EF4-FFF2-40B4-BE49-F238E27FC236}">
                <a16:creationId xmlns:a16="http://schemas.microsoft.com/office/drawing/2014/main" id="{52932351-B092-4544-81BC-D8D314EAD7C2}"/>
              </a:ext>
            </a:extLst>
          </p:cNvPr>
          <p:cNvSpPr>
            <a:spLocks xmlns:a="http://schemas.openxmlformats.org/drawingml/2006/main" noGrp="1"/>
          </p:cNvSpPr>
          <p:nvPr/>
        </p:nvSpPr>
        <p:spPr>
          <a:xfrm xmlns:a="http://schemas.openxmlformats.org/drawingml/2006/main">
            <a:off x="6496050" y="16478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4C66A"/>
                </a:solidFill>
                <a:latin typeface="DejaVu Sans"/>
                <a:ea typeface="DejaVu Sans"/>
                <a:cs typeface="DejaVu Sans"/>
              </a:defRPr>
            </a:pPr>
            <a:r>
              <a:rPr sz="2100" b="1">
                <a:solidFill>
                  <a:srgbClr val="F4C66A"/>
                </a:solidFill>
                <a:latin typeface="DejaVu Sans"/>
                <a:ea typeface="DejaVu Sans"/>
                <a:cs typeface="DejaVu Sans"/>
              </a:rPr>
              <a:t>Hₐ = fₐ(A) ∈ ℝᵀˣ¹²⁸</a:t>
            </a:r>
          </a:p>
        </p:txBody>
      </p:sp>
      <p:sp>
        <p:nvSpPr>
          <p:cNvPr id="6" name="">
            <a:extLst xmlns:a="http://schemas.openxmlformats.org/drawingml/2006/main">
              <a:ext uri="{FF2B5EF4-FFF2-40B4-BE49-F238E27FC236}">
                <a16:creationId xmlns:a16="http://schemas.microsoft.com/office/drawing/2014/main" id="{3DA7603E-8E18-4E05-968A-3D708DDE2955}"/>
              </a:ext>
            </a:extLst>
          </p:cNvPr>
          <p:cNvSpPr>
            <a:spLocks xmlns:a="http://schemas.openxmlformats.org/drawingml/2006/main" noGrp="1"/>
          </p:cNvSpPr>
          <p:nvPr/>
        </p:nvSpPr>
        <p:spPr>
          <a:xfrm xmlns:a="http://schemas.openxmlformats.org/drawingml/2006/main">
            <a:off x="781050" y="2352675"/>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For either stream xₜ:</a:t>
            </a:r>
          </a:p>
        </p:txBody>
      </p:sp>
      <p:sp>
        <p:nvSpPr>
          <p:cNvPr id="7" name="">
            <a:extLst xmlns:a="http://schemas.openxmlformats.org/drawingml/2006/main">
              <a:ext uri="{FF2B5EF4-FFF2-40B4-BE49-F238E27FC236}">
                <a16:creationId xmlns:a16="http://schemas.microsoft.com/office/drawing/2014/main" id="{75999F4C-5B04-40F6-8558-0AEDA2FE38A0}"/>
              </a:ext>
            </a:extLst>
          </p:cNvPr>
          <p:cNvSpPr>
            <a:spLocks xmlns:a="http://schemas.openxmlformats.org/drawingml/2006/main" noGrp="1"/>
          </p:cNvSpPr>
          <p:nvPr/>
        </p:nvSpPr>
        <p:spPr>
          <a:xfrm xmlns:a="http://schemas.openxmlformats.org/drawingml/2006/main">
            <a:off x="781050" y="28003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uₜ⁽¹⁾ = ReLU(W₁xₜ + b₁)             d → 512</a:t>
            </a:r>
          </a:p>
        </p:txBody>
      </p:sp>
      <p:sp>
        <p:nvSpPr>
          <p:cNvPr id="8" name="">
            <a:extLst xmlns:a="http://schemas.openxmlformats.org/drawingml/2006/main">
              <a:ext uri="{FF2B5EF4-FFF2-40B4-BE49-F238E27FC236}">
                <a16:creationId xmlns:a16="http://schemas.microsoft.com/office/drawing/2014/main" id="{DDD113AC-8659-4B0B-A1E8-BFFD6BA591D2}"/>
              </a:ext>
            </a:extLst>
          </p:cNvPr>
          <p:cNvSpPr>
            <a:spLocks xmlns:a="http://schemas.openxmlformats.org/drawingml/2006/main" noGrp="1"/>
          </p:cNvSpPr>
          <p:nvPr/>
        </p:nvSpPr>
        <p:spPr>
          <a:xfrm xmlns:a="http://schemas.openxmlformats.org/drawingml/2006/main">
            <a:off x="781050" y="33813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uₜ⁽²⁾ = ReLU(W₂uₜ⁽¹⁾ + b₂)        512 → 128</a:t>
            </a:r>
          </a:p>
        </p:txBody>
      </p:sp>
      <p:sp>
        <p:nvSpPr>
          <p:cNvPr id="9" name="">
            <a:extLst xmlns:a="http://schemas.openxmlformats.org/drawingml/2006/main">
              <a:ext uri="{FF2B5EF4-FFF2-40B4-BE49-F238E27FC236}">
                <a16:creationId xmlns:a16="http://schemas.microsoft.com/office/drawing/2014/main" id="{41181093-2FC4-4C06-8B26-35F589E80479}"/>
              </a:ext>
            </a:extLst>
          </p:cNvPr>
          <p:cNvSpPr>
            <a:spLocks xmlns:a="http://schemas.openxmlformats.org/drawingml/2006/main" noGrp="1"/>
          </p:cNvSpPr>
          <p:nvPr/>
        </p:nvSpPr>
        <p:spPr>
          <a:xfrm xmlns:a="http://schemas.openxmlformats.org/drawingml/2006/main">
            <a:off x="781050" y="3962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hₜ = ReLU(b₃ + Σᵣ₌₋₂² W₃,ᵣ uₜ₊ᵣ⁽²⁾)      Conv1D, kernel = 5</a:t>
            </a:r>
          </a:p>
        </p:txBody>
      </p:sp>
      <p:sp>
        <p:nvSpPr>
          <p:cNvPr id="10" name="">
            <a:extLst xmlns:a="http://schemas.openxmlformats.org/drawingml/2006/main">
              <a:ext uri="{FF2B5EF4-FFF2-40B4-BE49-F238E27FC236}">
                <a16:creationId xmlns:a16="http://schemas.microsoft.com/office/drawing/2014/main" id="{1705F5A1-0D88-445E-8824-C0ED07CA3534}"/>
              </a:ext>
            </a:extLst>
          </p:cNvPr>
          <p:cNvSpPr>
            <a:spLocks xmlns:a="http://schemas.openxmlformats.org/drawingml/2006/main" noGrp="1"/>
          </p:cNvSpPr>
          <p:nvPr/>
        </p:nvSpPr>
        <p:spPr>
          <a:xfrm xmlns:a="http://schemas.openxmlformats.org/drawingml/2006/main">
            <a:off x="781050" y="465772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575" b="1">
                <a:solidFill>
                  <a:srgbClr val="56D7CB"/>
                </a:solidFill>
                <a:latin typeface="DejaVu Sans"/>
                <a:ea typeface="DejaVu Sans"/>
                <a:cs typeface="DejaVu Sans"/>
              </a:defRPr>
            </a:pPr>
            <a:r>
              <a:rPr sz="1575" b="1">
                <a:solidFill>
                  <a:srgbClr val="56D7CB"/>
                </a:solidFill>
                <a:latin typeface="DejaVu Sans"/>
                <a:ea typeface="DejaVu Sans"/>
                <a:cs typeface="DejaVu Sans"/>
              </a:rPr>
              <a:t>Receptive field: five neighboring snippets</a:t>
            </a:r>
          </a:p>
        </p:txBody>
      </p:sp>
      <p:sp>
        <p:nvSpPr>
          <p:cNvPr id="11" name="">
            <a:extLst xmlns:a="http://schemas.openxmlformats.org/drawingml/2006/main">
              <a:ext uri="{FF2B5EF4-FFF2-40B4-BE49-F238E27FC236}">
                <a16:creationId xmlns:a16="http://schemas.microsoft.com/office/drawing/2014/main" id="{BFF37662-00BA-4413-B338-195D8705E5E7}"/>
              </a:ext>
            </a:extLst>
          </p:cNvPr>
          <p:cNvSpPr>
            <a:spLocks xmlns:a="http://schemas.openxmlformats.org/drawingml/2006/main" noGrp="1"/>
          </p:cNvSpPr>
          <p:nvPr/>
        </p:nvSpPr>
        <p:spPr>
          <a:xfrm xmlns:a="http://schemas.openxmlformats.org/drawingml/2006/main">
            <a:off x="781050" y="51530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Dropout p = 0.6 between channel-mixing layers during training</a:t>
            </a:r>
          </a:p>
        </p:txBody>
      </p:sp>
      <p:sp>
        <p:nvSpPr>
          <p:cNvPr id="12" name="">
            <a:extLst xmlns:a="http://schemas.openxmlformats.org/drawingml/2006/main">
              <a:ext uri="{FF2B5EF4-FFF2-40B4-BE49-F238E27FC236}">
                <a16:creationId xmlns:a16="http://schemas.microsoft.com/office/drawing/2014/main" id="{4721AD52-F1F0-4661-91B0-5E40DD56F029}"/>
              </a:ext>
            </a:extLst>
          </p:cNvPr>
          <p:cNvSpPr>
            <a:spLocks xmlns:a="http://schemas.openxmlformats.org/drawingml/2006/main" noGrp="1"/>
          </p:cNvSpPr>
          <p:nvPr/>
        </p:nvSpPr>
        <p:spPr>
          <a:xfrm xmlns:a="http://schemas.openxmlformats.org/drawingml/2006/main">
            <a:off x="781050" y="56388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Convolutions learn local temporal patterns; attention later connects distant snippets.</a:t>
            </a:r>
          </a:p>
        </p:txBody>
      </p:sp>
    </p:spTree>
    <p:extLst>
      <p:ext uri="{BB962C8B-B14F-4D97-AF65-F5344CB8AC3E}">
        <p14:creationId xmlns:p14="http://schemas.microsoft.com/office/powerpoint/2010/main" val="717605147"/>
      </p:ext>
    </p:extLst>
  </p:cSld>
</p:sld>
</file>

<file path=ppt/slides/slide4.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2" name="slide-4-title">
            <a:extLst xmlns:a="http://schemas.openxmlformats.org/drawingml/2006/main">
              <a:ext uri="{FF2B5EF4-FFF2-40B4-BE49-F238E27FC236}">
                <a16:creationId xmlns:a16="http://schemas.microsoft.com/office/drawing/2014/main" id="{3C59CB1B-7ACA-475E-B559-B77BF8D81CE0}"/>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Bidirectional cross-attention</a:t>
            </a:r>
          </a:p>
        </p:txBody>
      </p:sp>
      <p:sp>
        <p:nvSpPr>
          <p:cNvPr id="2" name="">
            <a:extLst xmlns:a="http://schemas.openxmlformats.org/drawingml/2006/main">
              <a:ext uri="{FF2B5EF4-FFF2-40B4-BE49-F238E27FC236}">
                <a16:creationId xmlns:a16="http://schemas.microsoft.com/office/drawing/2014/main" id="{2D9CEBAF-E2B0-4E3D-A34E-7D7D29E7271F}"/>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Each modality queries the other; four heads operate in parallel.</a:t>
            </a:r>
          </a:p>
        </p:txBody>
      </p:sp>
      <p:sp>
        <p:nvSpPr>
          <p:cNvPr id="3" name="">
            <a:extLst xmlns:a="http://schemas.openxmlformats.org/drawingml/2006/main">
              <a:ext uri="{FF2B5EF4-FFF2-40B4-BE49-F238E27FC236}">
                <a16:creationId xmlns:a16="http://schemas.microsoft.com/office/drawing/2014/main" id="{CDD23219-0E59-457D-8C51-03D24DC6D830}"/>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04</a:t>
            </a:r>
          </a:p>
        </p:txBody>
      </p:sp>
      <p:sp>
        <p:nvSpPr>
          <p:cNvPr id="4" name="">
            <a:extLst xmlns:a="http://schemas.openxmlformats.org/drawingml/2006/main">
              <a:ext uri="{FF2B5EF4-FFF2-40B4-BE49-F238E27FC236}">
                <a16:creationId xmlns:a16="http://schemas.microsoft.com/office/drawing/2014/main" id="{985873DE-C545-4306-B9A9-4AAE067E7CFC}"/>
              </a:ext>
            </a:extLst>
          </p:cNvPr>
          <p:cNvSpPr>
            <a:spLocks xmlns:a="http://schemas.openxmlformats.org/drawingml/2006/main" noGrp="1"/>
          </p:cNvSpPr>
          <p:nvPr/>
        </p:nvSpPr>
        <p:spPr>
          <a:xfrm xmlns:a="http://schemas.openxmlformats.org/drawingml/2006/main">
            <a:off x="762000" y="157162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defRPr sz="1575" b="1">
                <a:solidFill>
                  <a:srgbClr val="56D7CB"/>
                </a:solidFill>
                <a:latin typeface="DejaVu Sans"/>
                <a:ea typeface="DejaVu Sans"/>
                <a:cs typeface="DejaVu Sans"/>
              </a:defRPr>
            </a:pPr>
            <a:r>
              <a:rPr sz="1575" b="1">
                <a:solidFill>
                  <a:srgbClr val="56D7CB"/>
                </a:solidFill>
                <a:latin typeface="DejaVu Sans"/>
                <a:ea typeface="DejaVu Sans"/>
                <a:cs typeface="DejaVu Sans"/>
              </a:rPr>
              <a:t>One head: video queries audio</a:t>
            </a:r>
          </a:p>
        </p:txBody>
      </p:sp>
      <p:sp>
        <p:nvSpPr>
          <p:cNvPr id="5" name="">
            <a:extLst xmlns:a="http://schemas.openxmlformats.org/drawingml/2006/main">
              <a:ext uri="{FF2B5EF4-FFF2-40B4-BE49-F238E27FC236}">
                <a16:creationId xmlns:a16="http://schemas.microsoft.com/office/drawing/2014/main" id="{6391941C-5B99-40BD-9E4A-D84F294B2F3B}"/>
              </a:ext>
            </a:extLst>
          </p:cNvPr>
          <p:cNvSpPr>
            <a:spLocks xmlns:a="http://schemas.openxmlformats.org/drawingml/2006/main" noGrp="1"/>
          </p:cNvSpPr>
          <p:nvPr/>
        </p:nvSpPr>
        <p:spPr>
          <a:xfrm xmlns:a="http://schemas.openxmlformats.org/drawingml/2006/main">
            <a:off x="762000" y="2000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4F7FB"/>
                </a:solidFill>
                <a:latin typeface="DejaVu Sans"/>
                <a:ea typeface="DejaVu Sans"/>
                <a:cs typeface="DejaVu Sans"/>
              </a:defRPr>
            </a:pPr>
            <a:r>
              <a:rPr sz="1950" b="1">
                <a:solidFill>
                  <a:srgbClr val="F4F7FB"/>
                </a:solidFill>
                <a:latin typeface="DejaVu Sans"/>
                <a:ea typeface="DejaVu Sans"/>
                <a:cs typeface="DejaVu Sans"/>
              </a:rPr>
              <a:t>Qᵥ = HᵥWQ,   Kₐ = HₐWK,   Uₐ = HₐWV</a:t>
            </a:r>
          </a:p>
        </p:txBody>
      </p:sp>
      <p:sp>
        <p:nvSpPr>
          <p:cNvPr id="6" name="">
            <a:extLst xmlns:a="http://schemas.openxmlformats.org/drawingml/2006/main">
              <a:ext uri="{FF2B5EF4-FFF2-40B4-BE49-F238E27FC236}">
                <a16:creationId xmlns:a16="http://schemas.microsoft.com/office/drawing/2014/main" id="{70C0A63A-9C06-4F08-B48A-7F5B5B76CFC4}"/>
              </a:ext>
            </a:extLst>
          </p:cNvPr>
          <p:cNvSpPr>
            <a:spLocks xmlns:a="http://schemas.openxmlformats.org/drawingml/2006/main" noGrp="1"/>
          </p:cNvSpPr>
          <p:nvPr/>
        </p:nvSpPr>
        <p:spPr>
          <a:xfrm xmlns:a="http://schemas.openxmlformats.org/drawingml/2006/main">
            <a:off x="762000" y="2571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F4F7FB"/>
                </a:solidFill>
                <a:latin typeface="DejaVu Sans"/>
                <a:ea typeface="DejaVu Sans"/>
                <a:cs typeface="DejaVu Sans"/>
              </a:defRPr>
            </a:pPr>
            <a:r>
              <a:rPr sz="2250" b="1">
                <a:solidFill>
                  <a:srgbClr val="F4F7FB"/>
                </a:solidFill>
                <a:latin typeface="DejaVu Sans"/>
                <a:ea typeface="DejaVu Sans"/>
                <a:cs typeface="DejaVu Sans"/>
              </a:rPr>
              <a:t>Cᵥ←ₐ = softmax(QᵥKₐᵀ / √dₖ) Uₐ</a:t>
            </a:r>
          </a:p>
        </p:txBody>
      </p:sp>
      <p:sp>
        <p:nvSpPr>
          <p:cNvPr id="7" name="">
            <a:extLst xmlns:a="http://schemas.openxmlformats.org/drawingml/2006/main">
              <a:ext uri="{FF2B5EF4-FFF2-40B4-BE49-F238E27FC236}">
                <a16:creationId xmlns:a16="http://schemas.microsoft.com/office/drawing/2014/main" id="{082B8A33-F6ED-448B-B212-BD6CA76DF6C9}"/>
              </a:ext>
            </a:extLst>
          </p:cNvPr>
          <p:cNvSpPr>
            <a:spLocks xmlns:a="http://schemas.openxmlformats.org/drawingml/2006/main" noGrp="1"/>
          </p:cNvSpPr>
          <p:nvPr/>
        </p:nvSpPr>
        <p:spPr>
          <a:xfrm xmlns:a="http://schemas.openxmlformats.org/drawingml/2006/main">
            <a:off x="781050" y="3133725"/>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F4C66A"/>
                </a:solidFill>
                <a:latin typeface="DejaVu Sans"/>
                <a:ea typeface="DejaVu Sans"/>
                <a:cs typeface="DejaVu Sans"/>
              </a:defRPr>
            </a:pPr>
            <a:r>
              <a:rPr sz="1800" b="1">
                <a:solidFill>
                  <a:srgbClr val="F4C66A"/>
                </a:solidFill>
                <a:latin typeface="DejaVu Sans"/>
                <a:ea typeface="DejaVu Sans"/>
                <a:cs typeface="DejaVu Sans"/>
              </a:rPr>
              <a:t>dₖ = 128/4 = 32</a:t>
            </a:r>
          </a:p>
        </p:txBody>
      </p:sp>
      <p:sp>
        <p:nvSpPr>
          <p:cNvPr id="8" name="">
            <a:extLst xmlns:a="http://schemas.openxmlformats.org/drawingml/2006/main">
              <a:ext uri="{FF2B5EF4-FFF2-40B4-BE49-F238E27FC236}">
                <a16:creationId xmlns:a16="http://schemas.microsoft.com/office/drawing/2014/main" id="{91957835-B1F9-45CF-BA85-0961B50D20EC}"/>
              </a:ext>
            </a:extLst>
          </p:cNvPr>
          <p:cNvSpPr>
            <a:spLocks xmlns:a="http://schemas.openxmlformats.org/drawingml/2006/main" noGrp="1"/>
          </p:cNvSpPr>
          <p:nvPr/>
        </p:nvSpPr>
        <p:spPr>
          <a:xfrm xmlns:a="http://schemas.openxmlformats.org/drawingml/2006/main">
            <a:off x="781050" y="35528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Attention map: T × T; each video snippet weights all valid audio snippets.</a:t>
            </a:r>
          </a:p>
        </p:txBody>
      </p:sp>
      <p:sp>
        <p:nvSpPr>
          <p:cNvPr id="9" name="">
            <a:extLst xmlns:a="http://schemas.openxmlformats.org/drawingml/2006/main">
              <a:ext uri="{FF2B5EF4-FFF2-40B4-BE49-F238E27FC236}">
                <a16:creationId xmlns:a16="http://schemas.microsoft.com/office/drawing/2014/main" id="{F88A598A-4DF4-49EF-9078-6BA316CADC1A}"/>
              </a:ext>
            </a:extLst>
          </p:cNvPr>
          <p:cNvSpPr>
            <a:spLocks xmlns:a="http://schemas.openxmlformats.org/drawingml/2006/main" noGrp="1"/>
          </p:cNvSpPr>
          <p:nvPr/>
        </p:nvSpPr>
        <p:spPr>
          <a:xfrm xmlns:a="http://schemas.openxmlformats.org/drawingml/2006/main">
            <a:off x="762000" y="41529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DCE7F5"/>
                </a:solidFill>
                <a:latin typeface="DejaVu Sans"/>
                <a:ea typeface="DejaVu Sans"/>
                <a:cs typeface="DejaVu Sans"/>
              </a:defRPr>
            </a:pPr>
            <a:r>
              <a:rPr sz="2025" b="1">
                <a:solidFill>
                  <a:srgbClr val="DCE7F5"/>
                </a:solidFill>
                <a:latin typeface="DejaVu Sans"/>
                <a:ea typeface="DejaVu Sans"/>
                <a:cs typeface="DejaVu Sans"/>
              </a:rPr>
              <a:t>Cₐ←ᵥ = softmax(QₐKᵥᵀ / √32) Uᵥ</a:t>
            </a:r>
          </a:p>
        </p:txBody>
      </p:sp>
      <p:sp>
        <p:nvSpPr>
          <p:cNvPr id="10" name="">
            <a:extLst xmlns:a="http://schemas.openxmlformats.org/drawingml/2006/main">
              <a:ext uri="{FF2B5EF4-FFF2-40B4-BE49-F238E27FC236}">
                <a16:creationId xmlns:a16="http://schemas.microsoft.com/office/drawing/2014/main" id="{2DAA4FC7-8A7F-41F1-A914-2C81640C6DB7}"/>
              </a:ext>
            </a:extLst>
          </p:cNvPr>
          <p:cNvSpPr>
            <a:spLocks xmlns:a="http://schemas.openxmlformats.org/drawingml/2006/main" noGrp="1"/>
          </p:cNvSpPr>
          <p:nvPr/>
        </p:nvSpPr>
        <p:spPr>
          <a:xfrm xmlns:a="http://schemas.openxmlformats.org/drawingml/2006/main">
            <a:off x="762000" y="46767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F4F7FB"/>
                </a:solidFill>
                <a:latin typeface="DejaVu Sans"/>
                <a:ea typeface="DejaVu Sans"/>
                <a:cs typeface="DejaVu Sans"/>
              </a:defRPr>
            </a:pPr>
            <a:r>
              <a:rPr sz="1725" b="0">
                <a:solidFill>
                  <a:srgbClr val="F4F7FB"/>
                </a:solidFill>
                <a:latin typeface="DejaVu Sans"/>
                <a:ea typeface="DejaVu Sans"/>
                <a:cs typeface="DejaVu Sans"/>
              </a:rPr>
              <a:t>H′ᵥ = LayerNorm(Hᵥ + Cᵥ←ₐ)     H′ₐ = LayerNorm(Hₐ + Cₐ←ᵥ)</a:t>
            </a:r>
          </a:p>
        </p:txBody>
      </p:sp>
      <p:sp>
        <p:nvSpPr>
          <p:cNvPr id="11" name="">
            <a:extLst xmlns:a="http://schemas.openxmlformats.org/drawingml/2006/main">
              <a:ext uri="{FF2B5EF4-FFF2-40B4-BE49-F238E27FC236}">
                <a16:creationId xmlns:a16="http://schemas.microsoft.com/office/drawing/2014/main" id="{903FD8AE-F293-4E6D-91BD-EACE75EDE520}"/>
              </a:ext>
            </a:extLst>
          </p:cNvPr>
          <p:cNvSpPr>
            <a:spLocks xmlns:a="http://schemas.openxmlformats.org/drawingml/2006/main" noGrp="1"/>
          </p:cNvSpPr>
          <p:nvPr/>
        </p:nvSpPr>
        <p:spPr>
          <a:xfrm xmlns:a="http://schemas.openxmlformats.org/drawingml/2006/main">
            <a:off x="762000" y="53054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56D7CB"/>
                </a:solidFill>
                <a:latin typeface="DejaVu Sans"/>
                <a:ea typeface="DejaVu Sans"/>
                <a:cs typeface="DejaVu Sans"/>
              </a:defRPr>
            </a:pPr>
            <a:r>
              <a:rPr sz="1800" b="1">
                <a:solidFill>
                  <a:srgbClr val="56D7CB"/>
                </a:solidFill>
                <a:latin typeface="DejaVu Sans"/>
                <a:ea typeface="DejaVu Sans"/>
                <a:cs typeface="DejaVu Sans"/>
              </a:rPr>
              <a:t>hₜ = Wₘ[H′ᵥ,ₜ ; H′ₐ,ₜ] + bₘ     256 → 128</a:t>
            </a:r>
          </a:p>
        </p:txBody>
      </p:sp>
    </p:spTree>
    <p:extLst>
      <p:ext uri="{BB962C8B-B14F-4D97-AF65-F5344CB8AC3E}">
        <p14:creationId xmlns:p14="http://schemas.microsoft.com/office/powerpoint/2010/main" val="2032069385"/>
      </p:ext>
    </p:extLst>
  </p:cSld>
</p:sld>
</file>

<file path=ppt/slides/slide5.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7" name="slide-5-title">
            <a:extLst xmlns:a="http://schemas.openxmlformats.org/drawingml/2006/main">
              <a:ext uri="{FF2B5EF4-FFF2-40B4-BE49-F238E27FC236}">
                <a16:creationId xmlns:a16="http://schemas.microsoft.com/office/drawing/2014/main" id="{C1CD23BA-3A57-4860-AF09-9180346104B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Temporal pooling and output heads</a:t>
            </a:r>
          </a:p>
        </p:txBody>
      </p:sp>
      <p:sp>
        <p:nvSpPr>
          <p:cNvPr id="2" name="">
            <a:extLst xmlns:a="http://schemas.openxmlformats.org/drawingml/2006/main">
              <a:ext uri="{FF2B5EF4-FFF2-40B4-BE49-F238E27FC236}">
                <a16:creationId xmlns:a16="http://schemas.microsoft.com/office/drawing/2014/main" id="{F62D88A1-84B3-41B9-9B5E-5CB74D22D46B}"/>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The fused sequence produces both snippet-level and clip-level predictions.</a:t>
            </a:r>
          </a:p>
        </p:txBody>
      </p:sp>
      <p:sp>
        <p:nvSpPr>
          <p:cNvPr id="3" name="">
            <a:extLst xmlns:a="http://schemas.openxmlformats.org/drawingml/2006/main">
              <a:ext uri="{FF2B5EF4-FFF2-40B4-BE49-F238E27FC236}">
                <a16:creationId xmlns:a16="http://schemas.microsoft.com/office/drawing/2014/main" id="{6E5F5804-1492-4EEF-90C5-076C4AF6E76E}"/>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05</a:t>
            </a:r>
          </a:p>
        </p:txBody>
      </p:sp>
      <p:sp>
        <p:nvSpPr>
          <p:cNvPr id="4" name="">
            <a:extLst xmlns:a="http://schemas.openxmlformats.org/drawingml/2006/main">
              <a:ext uri="{FF2B5EF4-FFF2-40B4-BE49-F238E27FC236}">
                <a16:creationId xmlns:a16="http://schemas.microsoft.com/office/drawing/2014/main" id="{18BE4C49-3430-4682-A438-B89ADB37F946}"/>
              </a:ext>
            </a:extLst>
          </p:cNvPr>
          <p:cNvSpPr>
            <a:spLocks xmlns:a="http://schemas.openxmlformats.org/drawingml/2006/main" noGrp="1"/>
          </p:cNvSpPr>
          <p:nvPr/>
        </p:nvSpPr>
        <p:spPr>
          <a:xfrm xmlns:a="http://schemas.openxmlformats.org/drawingml/2006/main">
            <a:off x="762000" y="15716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Snippet anomaly probability</a:t>
            </a:r>
          </a:p>
        </p:txBody>
      </p:sp>
      <p:sp>
        <p:nvSpPr>
          <p:cNvPr id="5" name="">
            <a:extLst xmlns:a="http://schemas.openxmlformats.org/drawingml/2006/main">
              <a:ext uri="{FF2B5EF4-FFF2-40B4-BE49-F238E27FC236}">
                <a16:creationId xmlns:a16="http://schemas.microsoft.com/office/drawing/2014/main" id="{A1B219AD-DD4B-4566-B4C9-CEA25940DC2D}"/>
              </a:ext>
            </a:extLst>
          </p:cNvPr>
          <p:cNvSpPr>
            <a:spLocks xmlns:a="http://schemas.openxmlformats.org/drawingml/2006/main" noGrp="1"/>
          </p:cNvSpPr>
          <p:nvPr/>
        </p:nvSpPr>
        <p:spPr>
          <a:xfrm xmlns:a="http://schemas.openxmlformats.org/drawingml/2006/main">
            <a:off x="762000" y="19431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defRPr sz="2025" b="1">
                <a:solidFill>
                  <a:srgbClr val="F4F7FB"/>
                </a:solidFill>
                <a:latin typeface="DejaVu Sans"/>
                <a:ea typeface="DejaVu Sans"/>
                <a:cs typeface="DejaVu Sans"/>
              </a:defRPr>
            </a:pPr>
            <a:r>
              <a:rPr sz="2025" b="1">
                <a:solidFill>
                  <a:srgbClr val="F4F7FB"/>
                </a:solidFill>
                <a:latin typeface="DejaVu Sans"/>
                <a:ea typeface="DejaVu Sans"/>
                <a:cs typeface="DejaVu Sans"/>
              </a:rPr>
              <a:t>zₜ = wₛᵀhₜ + bₛ</a:t>
            </a:r>
          </a:p>
        </p:txBody>
      </p:sp>
      <p:sp>
        <p:nvSpPr>
          <p:cNvPr id="6" name="">
            <a:extLst xmlns:a="http://schemas.openxmlformats.org/drawingml/2006/main">
              <a:ext uri="{FF2B5EF4-FFF2-40B4-BE49-F238E27FC236}">
                <a16:creationId xmlns:a16="http://schemas.microsoft.com/office/drawing/2014/main" id="{27055D9D-3BCA-4C5F-9B88-DC394BB3B032}"/>
              </a:ext>
            </a:extLst>
          </p:cNvPr>
          <p:cNvSpPr>
            <a:spLocks xmlns:a="http://schemas.openxmlformats.org/drawingml/2006/main" noGrp="1"/>
          </p:cNvSpPr>
          <p:nvPr/>
        </p:nvSpPr>
        <p:spPr>
          <a:xfrm xmlns:a="http://schemas.openxmlformats.org/drawingml/2006/main">
            <a:off x="762000" y="24193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0">
                <a:solidFill>
                  <a:srgbClr val="F4F7FB"/>
                </a:solidFill>
                <a:latin typeface="DejaVu Sans"/>
                <a:ea typeface="DejaVu Sans"/>
                <a:cs typeface="DejaVu Sans"/>
              </a:defRPr>
            </a:pPr>
            <a:r>
              <a:rPr sz="1950" b="0">
                <a:solidFill>
                  <a:srgbClr val="F4F7FB"/>
                </a:solidFill>
                <a:latin typeface="DejaVu Sans"/>
                <a:ea typeface="DejaVu Sans"/>
                <a:cs typeface="DejaVu Sans"/>
              </a:rPr>
              <a:t>pₜ = σ(zₜ) = 1/(1 + e⁻ᶻᵗ)</a:t>
            </a:r>
          </a:p>
        </p:txBody>
      </p:sp>
      <p:sp>
        <p:nvSpPr>
          <p:cNvPr id="7" name="">
            <a:extLst xmlns:a="http://schemas.openxmlformats.org/drawingml/2006/main">
              <a:ext uri="{FF2B5EF4-FFF2-40B4-BE49-F238E27FC236}">
                <a16:creationId xmlns:a16="http://schemas.microsoft.com/office/drawing/2014/main" id="{7922A700-3489-4EDC-8D48-2990D5C01719}"/>
              </a:ext>
            </a:extLst>
          </p:cNvPr>
          <p:cNvSpPr>
            <a:spLocks xmlns:a="http://schemas.openxmlformats.org/drawingml/2006/main" noGrp="1"/>
          </p:cNvSpPr>
          <p:nvPr/>
        </p:nvSpPr>
        <p:spPr>
          <a:xfrm xmlns:a="http://schemas.openxmlformats.org/drawingml/2006/main">
            <a:off x="6477000" y="15716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Attention pooling</a:t>
            </a:r>
          </a:p>
        </p:txBody>
      </p:sp>
      <p:sp>
        <p:nvSpPr>
          <p:cNvPr id="8" name="">
            <a:extLst xmlns:a="http://schemas.openxmlformats.org/drawingml/2006/main">
              <a:ext uri="{FF2B5EF4-FFF2-40B4-BE49-F238E27FC236}">
                <a16:creationId xmlns:a16="http://schemas.microsoft.com/office/drawing/2014/main" id="{79968EDA-FEF4-47E1-8A0A-95099BB2B375}"/>
              </a:ext>
            </a:extLst>
          </p:cNvPr>
          <p:cNvSpPr>
            <a:spLocks xmlns:a="http://schemas.openxmlformats.org/drawingml/2006/main" noGrp="1"/>
          </p:cNvSpPr>
          <p:nvPr/>
        </p:nvSpPr>
        <p:spPr>
          <a:xfrm xmlns:a="http://schemas.openxmlformats.org/drawingml/2006/main">
            <a:off x="6477000" y="1943100"/>
            <a:ext cx="495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eₜ = wₐᵀhₜ + bₐ</a:t>
            </a:r>
          </a:p>
        </p:txBody>
      </p:sp>
      <p:sp>
        <p:nvSpPr>
          <p:cNvPr id="9" name="">
            <a:extLst xmlns:a="http://schemas.openxmlformats.org/drawingml/2006/main">
              <a:ext uri="{FF2B5EF4-FFF2-40B4-BE49-F238E27FC236}">
                <a16:creationId xmlns:a16="http://schemas.microsoft.com/office/drawing/2014/main" id="{B0EB538B-4B8E-4C14-AEAB-969E3ACE9B7B}"/>
              </a:ext>
            </a:extLst>
          </p:cNvPr>
          <p:cNvSpPr>
            <a:spLocks xmlns:a="http://schemas.openxmlformats.org/drawingml/2006/main" noGrp="1"/>
          </p:cNvSpPr>
          <p:nvPr/>
        </p:nvSpPr>
        <p:spPr>
          <a:xfrm xmlns:a="http://schemas.openxmlformats.org/drawingml/2006/main">
            <a:off x="6477000" y="2381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F4F7FB"/>
                </a:solidFill>
                <a:latin typeface="DejaVu Sans"/>
                <a:ea typeface="DejaVu Sans"/>
                <a:cs typeface="DejaVu Sans"/>
              </a:defRPr>
            </a:pPr>
            <a:r>
              <a:rPr sz="1800" b="0">
                <a:solidFill>
                  <a:srgbClr val="F4F7FB"/>
                </a:solidFill>
                <a:latin typeface="DejaVu Sans"/>
                <a:ea typeface="DejaVu Sans"/>
                <a:cs typeface="DejaVu Sans"/>
              </a:rPr>
              <a:t>αₜ = exp(eₜ) / Σᵤ exp(eᵤ)</a:t>
            </a:r>
          </a:p>
        </p:txBody>
      </p:sp>
      <p:sp>
        <p:nvSpPr>
          <p:cNvPr id="10" name="">
            <a:extLst xmlns:a="http://schemas.openxmlformats.org/drawingml/2006/main">
              <a:ext uri="{FF2B5EF4-FFF2-40B4-BE49-F238E27FC236}">
                <a16:creationId xmlns:a16="http://schemas.microsoft.com/office/drawing/2014/main" id="{EED8D5C4-A592-459D-BE25-3C61810B6F72}"/>
              </a:ext>
            </a:extLst>
          </p:cNvPr>
          <p:cNvSpPr>
            <a:spLocks xmlns:a="http://schemas.openxmlformats.org/drawingml/2006/main" noGrp="1"/>
          </p:cNvSpPr>
          <p:nvPr/>
        </p:nvSpPr>
        <p:spPr>
          <a:xfrm xmlns:a="http://schemas.openxmlformats.org/drawingml/2006/main">
            <a:off x="6477000" y="2857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4F7FB"/>
                </a:solidFill>
                <a:latin typeface="DejaVu Sans"/>
                <a:ea typeface="DejaVu Sans"/>
                <a:cs typeface="DejaVu Sans"/>
              </a:defRPr>
            </a:pPr>
            <a:r>
              <a:rPr sz="1950" b="1">
                <a:solidFill>
                  <a:srgbClr val="F4F7FB"/>
                </a:solidFill>
                <a:latin typeface="DejaVu Sans"/>
                <a:ea typeface="DejaVu Sans"/>
                <a:cs typeface="DejaVu Sans"/>
              </a:rPr>
              <a:t>hclip = Σₜ αₜhₜ</a:t>
            </a:r>
          </a:p>
        </p:txBody>
      </p:sp>
      <p:sp>
        <p:nvSpPr>
          <p:cNvPr id="11" name="">
            <a:extLst xmlns:a="http://schemas.openxmlformats.org/drawingml/2006/main">
              <a:ext uri="{FF2B5EF4-FFF2-40B4-BE49-F238E27FC236}">
                <a16:creationId xmlns:a16="http://schemas.microsoft.com/office/drawing/2014/main" id="{9F2074E6-9984-4977-86EE-2486B5CBE683}"/>
              </a:ext>
            </a:extLst>
          </p:cNvPr>
          <p:cNvSpPr>
            <a:spLocks xmlns:a="http://schemas.openxmlformats.org/drawingml/2006/main" noGrp="1"/>
          </p:cNvSpPr>
          <p:nvPr/>
        </p:nvSpPr>
        <p:spPr>
          <a:xfrm xmlns:a="http://schemas.openxmlformats.org/drawingml/2006/main">
            <a:off x="762000" y="37147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Clip anomaly</a:t>
            </a:r>
          </a:p>
        </p:txBody>
      </p:sp>
      <p:sp>
        <p:nvSpPr>
          <p:cNvPr id="12" name="">
            <a:extLst xmlns:a="http://schemas.openxmlformats.org/drawingml/2006/main">
              <a:ext uri="{FF2B5EF4-FFF2-40B4-BE49-F238E27FC236}">
                <a16:creationId xmlns:a16="http://schemas.microsoft.com/office/drawing/2014/main" id="{AD0C6EE4-D7D2-4EB7-94EF-9B05846E16D3}"/>
              </a:ext>
            </a:extLst>
          </p:cNvPr>
          <p:cNvSpPr>
            <a:spLocks xmlns:a="http://schemas.openxmlformats.org/drawingml/2006/main" noGrp="1"/>
          </p:cNvSpPr>
          <p:nvPr/>
        </p:nvSpPr>
        <p:spPr>
          <a:xfrm xmlns:a="http://schemas.openxmlformats.org/drawingml/2006/main">
            <a:off x="762000" y="41052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pclip = σ(wᵧᵀhclip + bᵧ)</a:t>
            </a:r>
          </a:p>
        </p:txBody>
      </p:sp>
      <p:sp>
        <p:nvSpPr>
          <p:cNvPr id="13" name="">
            <a:extLst xmlns:a="http://schemas.openxmlformats.org/drawingml/2006/main">
              <a:ext uri="{FF2B5EF4-FFF2-40B4-BE49-F238E27FC236}">
                <a16:creationId xmlns:a16="http://schemas.microsoft.com/office/drawing/2014/main" id="{C65E7C73-49BD-4E7F-AEA0-5368FAAF5934}"/>
              </a:ext>
            </a:extLst>
          </p:cNvPr>
          <p:cNvSpPr>
            <a:spLocks xmlns:a="http://schemas.openxmlformats.org/drawingml/2006/main" noGrp="1"/>
          </p:cNvSpPr>
          <p:nvPr/>
        </p:nvSpPr>
        <p:spPr>
          <a:xfrm xmlns:a="http://schemas.openxmlformats.org/drawingml/2006/main">
            <a:off x="6477000" y="37147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Six category probabilities</a:t>
            </a:r>
          </a:p>
        </p:txBody>
      </p:sp>
      <p:sp>
        <p:nvSpPr>
          <p:cNvPr id="14" name="">
            <a:extLst xmlns:a="http://schemas.openxmlformats.org/drawingml/2006/main">
              <a:ext uri="{FF2B5EF4-FFF2-40B4-BE49-F238E27FC236}">
                <a16:creationId xmlns:a16="http://schemas.microsoft.com/office/drawing/2014/main" id="{B8212725-5CE4-4629-8863-E3BC1F468646}"/>
              </a:ext>
            </a:extLst>
          </p:cNvPr>
          <p:cNvSpPr>
            <a:spLocks xmlns:a="http://schemas.openxmlformats.org/drawingml/2006/main" noGrp="1"/>
          </p:cNvSpPr>
          <p:nvPr/>
        </p:nvSpPr>
        <p:spPr>
          <a:xfrm xmlns:a="http://schemas.openxmlformats.org/drawingml/2006/main">
            <a:off x="6477000" y="41052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q = σ(Wc hclip + bc) ∈ (0,1)⁶</a:t>
            </a:r>
          </a:p>
        </p:txBody>
      </p:sp>
      <p:sp>
        <p:nvSpPr>
          <p:cNvPr id="15" name="">
            <a:extLst xmlns:a="http://schemas.openxmlformats.org/drawingml/2006/main">
              <a:ext uri="{FF2B5EF4-FFF2-40B4-BE49-F238E27FC236}">
                <a16:creationId xmlns:a16="http://schemas.microsoft.com/office/drawing/2014/main" id="{D9182B2F-48EA-45DB-AAC7-DFB957F95D54}"/>
              </a:ext>
            </a:extLst>
          </p:cNvPr>
          <p:cNvSpPr>
            <a:spLocks xmlns:a="http://schemas.openxmlformats.org/drawingml/2006/main" noGrp="1"/>
          </p:cNvSpPr>
          <p:nvPr/>
        </p:nvSpPr>
        <p:spPr>
          <a:xfrm xmlns:a="http://schemas.openxmlformats.org/drawingml/2006/main">
            <a:off x="762000" y="50863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Categories use independent sigmoid outputs, so one clip may have multiple labels.</a:t>
            </a:r>
          </a:p>
        </p:txBody>
      </p:sp>
      <p:sp>
        <p:nvSpPr>
          <p:cNvPr id="16" name="">
            <a:extLst xmlns:a="http://schemas.openxmlformats.org/drawingml/2006/main">
              <a:ext uri="{FF2B5EF4-FFF2-40B4-BE49-F238E27FC236}">
                <a16:creationId xmlns:a16="http://schemas.microsoft.com/office/drawing/2014/main" id="{07168CA8-F1A5-4104-93FE-78753E922C47}"/>
              </a:ext>
            </a:extLst>
          </p:cNvPr>
          <p:cNvSpPr>
            <a:spLocks xmlns:a="http://schemas.openxmlformats.org/drawingml/2006/main" noGrp="1"/>
          </p:cNvSpPr>
          <p:nvPr/>
        </p:nvSpPr>
        <p:spPr>
          <a:xfrm xmlns:a="http://schemas.openxmlformats.org/drawingml/2006/main">
            <a:off x="762000" y="55626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Masked softmax excludes padded snippets from αₜ.</a:t>
            </a:r>
          </a:p>
        </p:txBody>
      </p:sp>
    </p:spTree>
    <p:extLst>
      <p:ext uri="{BB962C8B-B14F-4D97-AF65-F5344CB8AC3E}">
        <p14:creationId xmlns:p14="http://schemas.microsoft.com/office/powerpoint/2010/main" val="1586051795"/>
      </p:ext>
    </p:extLst>
  </p:cSld>
</p:sld>
</file>

<file path=ppt/slides/slide6.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4" name="slide-6-title">
            <a:extLst xmlns:a="http://schemas.openxmlformats.org/drawingml/2006/main">
              <a:ext uri="{FF2B5EF4-FFF2-40B4-BE49-F238E27FC236}">
                <a16:creationId xmlns:a16="http://schemas.microsoft.com/office/drawing/2014/main" id="{F07403AD-B19D-4778-BB2A-39BF2FB3540C}"/>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Weak-label training objective</a:t>
            </a:r>
          </a:p>
        </p:txBody>
      </p:sp>
      <p:sp>
        <p:nvSpPr>
          <p:cNvPr id="2" name="">
            <a:extLst xmlns:a="http://schemas.openxmlformats.org/drawingml/2006/main">
              <a:ext uri="{FF2B5EF4-FFF2-40B4-BE49-F238E27FC236}">
                <a16:creationId xmlns:a16="http://schemas.microsoft.com/office/drawing/2014/main" id="{D9D0E4A5-E186-45D6-918B-8D5D8FB82600}"/>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Clip labels supervise ranking across time; the model does not receive exact boundary labels.</a:t>
            </a:r>
          </a:p>
        </p:txBody>
      </p:sp>
      <p:sp>
        <p:nvSpPr>
          <p:cNvPr id="3" name="">
            <a:extLst xmlns:a="http://schemas.openxmlformats.org/drawingml/2006/main">
              <a:ext uri="{FF2B5EF4-FFF2-40B4-BE49-F238E27FC236}">
                <a16:creationId xmlns:a16="http://schemas.microsoft.com/office/drawing/2014/main" id="{B6E12866-8862-42DD-B064-C41048884D53}"/>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06</a:t>
            </a:r>
          </a:p>
        </p:txBody>
      </p:sp>
      <p:sp>
        <p:nvSpPr>
          <p:cNvPr id="4" name="">
            <a:extLst xmlns:a="http://schemas.openxmlformats.org/drawingml/2006/main">
              <a:ext uri="{FF2B5EF4-FFF2-40B4-BE49-F238E27FC236}">
                <a16:creationId xmlns:a16="http://schemas.microsoft.com/office/drawing/2014/main" id="{0DD0B22E-7888-4A96-87E4-F9694387125D}"/>
              </a:ext>
            </a:extLst>
          </p:cNvPr>
          <p:cNvSpPr>
            <a:spLocks xmlns:a="http://schemas.openxmlformats.org/drawingml/2006/main" noGrp="1"/>
          </p:cNvSpPr>
          <p:nvPr/>
        </p:nvSpPr>
        <p:spPr>
          <a:xfrm xmlns:a="http://schemas.openxmlformats.org/drawingml/2006/main">
            <a:off x="762000" y="1514475"/>
            <a:ext cx="581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Top-5 multiple-instance score</a:t>
            </a:r>
          </a:p>
        </p:txBody>
      </p:sp>
      <p:sp>
        <p:nvSpPr>
          <p:cNvPr id="5" name="">
            <a:extLst xmlns:a="http://schemas.openxmlformats.org/drawingml/2006/main">
              <a:ext uri="{FF2B5EF4-FFF2-40B4-BE49-F238E27FC236}">
                <a16:creationId xmlns:a16="http://schemas.microsoft.com/office/drawing/2014/main" id="{DC3CEEFB-8F8B-4398-BE97-5DF9480F2B72}"/>
              </a:ext>
            </a:extLst>
          </p:cNvPr>
          <p:cNvSpPr>
            <a:spLocks xmlns:a="http://schemas.openxmlformats.org/drawingml/2006/main" noGrp="1"/>
          </p:cNvSpPr>
          <p:nvPr/>
        </p:nvSpPr>
        <p:spPr>
          <a:xfrm xmlns:a="http://schemas.openxmlformats.org/drawingml/2006/main">
            <a:off x="762000" y="18859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4F7FB"/>
                </a:solidFill>
                <a:latin typeface="DejaVu Sans"/>
                <a:ea typeface="DejaVu Sans"/>
                <a:cs typeface="DejaVu Sans"/>
              </a:defRPr>
            </a:pPr>
            <a:r>
              <a:rPr sz="2100" b="1">
                <a:solidFill>
                  <a:srgbClr val="F4F7FB"/>
                </a:solidFill>
                <a:latin typeface="DejaVu Sans"/>
                <a:ea typeface="DejaVu Sans"/>
                <a:cs typeface="DejaVu Sans"/>
              </a:rPr>
              <a:t>pbag = (1/5) Σₜ∈Top5(p) pₜ</a:t>
            </a:r>
          </a:p>
        </p:txBody>
      </p:sp>
      <p:sp>
        <p:nvSpPr>
          <p:cNvPr id="6" name="">
            <a:extLst xmlns:a="http://schemas.openxmlformats.org/drawingml/2006/main">
              <a:ext uri="{FF2B5EF4-FFF2-40B4-BE49-F238E27FC236}">
                <a16:creationId xmlns:a16="http://schemas.microsoft.com/office/drawing/2014/main" id="{6AB6C62D-245B-4DB8-9F56-09542FE216F6}"/>
              </a:ext>
            </a:extLst>
          </p:cNvPr>
          <p:cNvSpPr>
            <a:spLocks xmlns:a="http://schemas.openxmlformats.org/drawingml/2006/main" noGrp="1"/>
          </p:cNvSpPr>
          <p:nvPr/>
        </p:nvSpPr>
        <p:spPr>
          <a:xfrm xmlns:a="http://schemas.openxmlformats.org/drawingml/2006/main">
            <a:off x="762000" y="239077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DCE7F5"/>
                </a:solidFill>
                <a:latin typeface="DejaVu Sans"/>
                <a:ea typeface="DejaVu Sans"/>
                <a:cs typeface="DejaVu Sans"/>
              </a:defRPr>
            </a:pPr>
            <a:r>
              <a:rPr sz="1875" b="0">
                <a:solidFill>
                  <a:srgbClr val="DCE7F5"/>
                </a:solidFill>
                <a:latin typeface="DejaVu Sans"/>
                <a:ea typeface="DejaVu Sans"/>
                <a:cs typeface="DejaVu Sans"/>
              </a:rPr>
              <a:t>LMIL = −y log(pbag) − (1−y) log(1−pbag)</a:t>
            </a:r>
          </a:p>
        </p:txBody>
      </p:sp>
      <p:sp>
        <p:nvSpPr>
          <p:cNvPr id="7" name="">
            <a:extLst xmlns:a="http://schemas.openxmlformats.org/drawingml/2006/main">
              <a:ext uri="{FF2B5EF4-FFF2-40B4-BE49-F238E27FC236}">
                <a16:creationId xmlns:a16="http://schemas.microsoft.com/office/drawing/2014/main" id="{C7D4D807-8147-448B-B089-65C094FEAF38}"/>
              </a:ext>
            </a:extLst>
          </p:cNvPr>
          <p:cNvSpPr>
            <a:spLocks xmlns:a="http://schemas.openxmlformats.org/drawingml/2006/main" noGrp="1"/>
          </p:cNvSpPr>
          <p:nvPr/>
        </p:nvSpPr>
        <p:spPr>
          <a:xfrm xmlns:a="http://schemas.openxmlformats.org/drawingml/2006/main">
            <a:off x="762000" y="31432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Attention clip loss</a:t>
            </a:r>
          </a:p>
        </p:txBody>
      </p:sp>
      <p:sp>
        <p:nvSpPr>
          <p:cNvPr id="8" name="">
            <a:extLst xmlns:a="http://schemas.openxmlformats.org/drawingml/2006/main">
              <a:ext uri="{FF2B5EF4-FFF2-40B4-BE49-F238E27FC236}">
                <a16:creationId xmlns:a16="http://schemas.microsoft.com/office/drawing/2014/main" id="{EC76771A-0C3E-45A3-A112-53980117096C}"/>
              </a:ext>
            </a:extLst>
          </p:cNvPr>
          <p:cNvSpPr>
            <a:spLocks xmlns:a="http://schemas.openxmlformats.org/drawingml/2006/main" noGrp="1"/>
          </p:cNvSpPr>
          <p:nvPr/>
        </p:nvSpPr>
        <p:spPr>
          <a:xfrm xmlns:a="http://schemas.openxmlformats.org/drawingml/2006/main">
            <a:off x="762000" y="34861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Latt = BCE(pclip, y)</a:t>
            </a:r>
          </a:p>
        </p:txBody>
      </p:sp>
      <p:sp>
        <p:nvSpPr>
          <p:cNvPr id="9" name="">
            <a:extLst xmlns:a="http://schemas.openxmlformats.org/drawingml/2006/main">
              <a:ext uri="{FF2B5EF4-FFF2-40B4-BE49-F238E27FC236}">
                <a16:creationId xmlns:a16="http://schemas.microsoft.com/office/drawing/2014/main" id="{34F2DBC2-6EB5-40E4-9CC6-E5EA3A687661}"/>
              </a:ext>
            </a:extLst>
          </p:cNvPr>
          <p:cNvSpPr>
            <a:spLocks xmlns:a="http://schemas.openxmlformats.org/drawingml/2006/main" noGrp="1"/>
          </p:cNvSpPr>
          <p:nvPr/>
        </p:nvSpPr>
        <p:spPr>
          <a:xfrm xmlns:a="http://schemas.openxmlformats.org/drawingml/2006/main">
            <a:off x="6477000" y="31432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Multi-label category loss</a:t>
            </a:r>
          </a:p>
        </p:txBody>
      </p:sp>
      <p:sp>
        <p:nvSpPr>
          <p:cNvPr id="10" name="">
            <a:extLst xmlns:a="http://schemas.openxmlformats.org/drawingml/2006/main">
              <a:ext uri="{FF2B5EF4-FFF2-40B4-BE49-F238E27FC236}">
                <a16:creationId xmlns:a16="http://schemas.microsoft.com/office/drawing/2014/main" id="{385FB66D-D303-4054-AE86-D0CFB362E3F8}"/>
              </a:ext>
            </a:extLst>
          </p:cNvPr>
          <p:cNvSpPr>
            <a:spLocks xmlns:a="http://schemas.openxmlformats.org/drawingml/2006/main" noGrp="1"/>
          </p:cNvSpPr>
          <p:nvPr/>
        </p:nvSpPr>
        <p:spPr>
          <a:xfrm xmlns:a="http://schemas.openxmlformats.org/drawingml/2006/main">
            <a:off x="6477000" y="34861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4F7FB"/>
                </a:solidFill>
                <a:latin typeface="DejaVu Sans"/>
                <a:ea typeface="DejaVu Sans"/>
                <a:cs typeface="DejaVu Sans"/>
              </a:defRPr>
            </a:pPr>
            <a:r>
              <a:rPr sz="1500" b="1">
                <a:solidFill>
                  <a:srgbClr val="F4F7FB"/>
                </a:solidFill>
                <a:latin typeface="DejaVu Sans"/>
                <a:ea typeface="DejaVu Sans"/>
                <a:cs typeface="DejaVu Sans"/>
              </a:rPr>
              <a:t>Lmulti = −(1/6) Σc [yc log(qc) + (1−yc) log(1−qc)]</a:t>
            </a:r>
          </a:p>
        </p:txBody>
      </p:sp>
      <p:sp>
        <p:nvSpPr>
          <p:cNvPr id="11" name="">
            <a:extLst xmlns:a="http://schemas.openxmlformats.org/drawingml/2006/main">
              <a:ext uri="{FF2B5EF4-FFF2-40B4-BE49-F238E27FC236}">
                <a16:creationId xmlns:a16="http://schemas.microsoft.com/office/drawing/2014/main" id="{456D4334-F67D-470F-910A-AA7290F9F1E1}"/>
              </a:ext>
            </a:extLst>
          </p:cNvPr>
          <p:cNvSpPr>
            <a:spLocks xmlns:a="http://schemas.openxmlformats.org/drawingml/2006/main" noGrp="1"/>
          </p:cNvSpPr>
          <p:nvPr/>
        </p:nvSpPr>
        <p:spPr>
          <a:xfrm xmlns:a="http://schemas.openxmlformats.org/drawingml/2006/main">
            <a:off x="762000" y="4514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56D7CB"/>
                </a:solidFill>
                <a:latin typeface="DejaVu Sans"/>
                <a:ea typeface="DejaVu Sans"/>
                <a:cs typeface="DejaVu Sans"/>
              </a:defRPr>
            </a:pPr>
            <a:r>
              <a:rPr sz="2325" b="1">
                <a:solidFill>
                  <a:srgbClr val="56D7CB"/>
                </a:solidFill>
                <a:latin typeface="DejaVu Sans"/>
                <a:ea typeface="DejaVu Sans"/>
                <a:cs typeface="DejaVu Sans"/>
              </a:rPr>
              <a:t>L = LMIL + 0.5 Latt + 0.3 Lmulti</a:t>
            </a:r>
          </a:p>
        </p:txBody>
      </p:sp>
      <p:sp>
        <p:nvSpPr>
          <p:cNvPr id="12" name="">
            <a:extLst xmlns:a="http://schemas.openxmlformats.org/drawingml/2006/main">
              <a:ext uri="{FF2B5EF4-FFF2-40B4-BE49-F238E27FC236}">
                <a16:creationId xmlns:a16="http://schemas.microsoft.com/office/drawing/2014/main" id="{7B06845B-CCE7-484F-9F38-BC6190AC7B04}"/>
              </a:ext>
            </a:extLst>
          </p:cNvPr>
          <p:cNvSpPr>
            <a:spLocks xmlns:a="http://schemas.openxmlformats.org/drawingml/2006/main" noGrp="1"/>
          </p:cNvSpPr>
          <p:nvPr/>
        </p:nvSpPr>
        <p:spPr>
          <a:xfrm xmlns:a="http://schemas.openxmlformats.org/drawingml/2006/main">
            <a:off x="781050" y="517207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0">
                <a:solidFill>
                  <a:srgbClr val="DCE7F5"/>
                </a:solidFill>
                <a:latin typeface="DejaVu Sans"/>
                <a:ea typeface="DejaVu Sans"/>
                <a:cs typeface="DejaVu Sans"/>
              </a:defRPr>
            </a:pPr>
            <a:r>
              <a:rPr sz="1575" b="0">
                <a:solidFill>
                  <a:srgbClr val="DCE7F5"/>
                </a:solidFill>
                <a:latin typeface="DejaVu Sans"/>
                <a:ea typeface="DejaVu Sans"/>
                <a:cs typeface="DejaVu Sans"/>
              </a:rPr>
              <a:t>Adam · learning rate 10⁻⁴ · 30 epochs · batch 32</a:t>
            </a:r>
          </a:p>
        </p:txBody>
      </p:sp>
      <p:sp>
        <p:nvSpPr>
          <p:cNvPr id="13" name="">
            <a:extLst xmlns:a="http://schemas.openxmlformats.org/drawingml/2006/main">
              <a:ext uri="{FF2B5EF4-FFF2-40B4-BE49-F238E27FC236}">
                <a16:creationId xmlns:a16="http://schemas.microsoft.com/office/drawing/2014/main" id="{C33CD2A0-3008-4EF9-B10A-6AC5BBCEAF0D}"/>
              </a:ext>
            </a:extLst>
          </p:cNvPr>
          <p:cNvSpPr>
            <a:spLocks xmlns:a="http://schemas.openxmlformats.org/drawingml/2006/main" noGrp="1"/>
          </p:cNvSpPr>
          <p:nvPr/>
        </p:nvSpPr>
        <p:spPr>
          <a:xfrm xmlns:a="http://schemas.openxmlformats.org/drawingml/2006/main">
            <a:off x="781050" y="56197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Modality dropout: p = 0.15 during training</a:t>
            </a:r>
          </a:p>
        </p:txBody>
      </p:sp>
    </p:spTree>
    <p:extLst>
      <p:ext uri="{BB962C8B-B14F-4D97-AF65-F5344CB8AC3E}">
        <p14:creationId xmlns:p14="http://schemas.microsoft.com/office/powerpoint/2010/main" val="427582519"/>
      </p:ext>
    </p:extLst>
  </p:cSld>
</p:sld>
</file>

<file path=ppt/slides/slide7.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56669158-E561-4680-AEEE-96391E08EE3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Inference, evaluation, and limits</a:t>
            </a:r>
          </a:p>
        </p:txBody>
      </p:sp>
      <p:sp>
        <p:nvSpPr>
          <p:cNvPr id="2" name="">
            <a:extLst xmlns:a="http://schemas.openxmlformats.org/drawingml/2006/main">
              <a:ext uri="{FF2B5EF4-FFF2-40B4-BE49-F238E27FC236}">
                <a16:creationId xmlns:a16="http://schemas.microsoft.com/office/drawing/2014/main" id="{A2A3E202-3F6E-459F-A68C-D1920DCE6E48}"/>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Snippet probabilities become intervals only after thresholding and temporal grouping.</a:t>
            </a:r>
          </a:p>
        </p:txBody>
      </p:sp>
      <p:sp>
        <p:nvSpPr>
          <p:cNvPr id="3" name="">
            <a:extLst xmlns:a="http://schemas.openxmlformats.org/drawingml/2006/main">
              <a:ext uri="{FF2B5EF4-FFF2-40B4-BE49-F238E27FC236}">
                <a16:creationId xmlns:a16="http://schemas.microsoft.com/office/drawing/2014/main" id="{E3E9C742-404E-4173-9085-15F35641BB34}"/>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07</a:t>
            </a:r>
          </a:p>
        </p:txBody>
      </p:sp>
      <p:graphicFrame>
        <p:nvGraphicFramePr>
          <p:cNvPr id="17" name="Chart"/>
          <p:cNvGraphicFramePr/>
          <p:nvPr/>
        </p:nvGraphicFramePr>
        <p:xfrm>
          <a:off xmlns:a="http://schemas.openxmlformats.org/drawingml/2006/main" x="495300" y="1619250"/>
          <a:ext xmlns:a="http://schemas.openxmlformats.org/drawingml/2006/main" cx="6572250" cy="3962400"/>
        </p:xfrm>
        <a:graphic xmlns:a="http://schemas.openxmlformats.org/drawingml/2006/main">
          <a:graphicData uri="http://schemas.openxmlformats.org/drawingml/2006/chart">
            <c:chart xmlns:r="http://schemas.openxmlformats.org/officeDocument/2006/relationships" xmlns:c="http://schemas.openxmlformats.org/drawingml/2006/chart" r:id="Rbef1c12a7f994af9"/>
          </a:graphicData>
        </a:graphic>
      </p:graphicFrame>
      <p:sp>
        <p:nvSpPr>
          <p:cNvPr id="5" name="">
            <a:extLst xmlns:a="http://schemas.openxmlformats.org/drawingml/2006/main">
              <a:ext uri="{FF2B5EF4-FFF2-40B4-BE49-F238E27FC236}">
                <a16:creationId xmlns:a16="http://schemas.microsoft.com/office/drawing/2014/main" id="{591D4B68-56A3-4FBB-AD2E-70C26F4D26A5}"/>
              </a:ext>
            </a:extLst>
          </p:cNvPr>
          <p:cNvSpPr>
            <a:spLocks xmlns:a="http://schemas.openxmlformats.org/drawingml/2006/main" noGrp="1"/>
          </p:cNvSpPr>
          <p:nvPr/>
        </p:nvSpPr>
        <p:spPr>
          <a:xfrm xmlns:a="http://schemas.openxmlformats.org/drawingml/2006/main">
            <a:off x="7486650" y="16573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476"/>
          </a:bodyPr>
          <a:lstStyle xmlns:a="http://schemas.openxmlformats.org/drawingml/2006/main"/>
          <a:p xmlns:a="http://schemas.openxmlformats.org/drawingml/2006/main">
            <a:pPr>
              <a:defRPr sz="2100" b="1">
                <a:solidFill>
                  <a:srgbClr val="56D7CB"/>
                </a:solidFill>
                <a:latin typeface="DejaVu Sans"/>
                <a:ea typeface="DejaVu Sans"/>
                <a:cs typeface="DejaVu Sans"/>
              </a:defRPr>
            </a:pPr>
            <a:r>
              <a:rPr sz="2100" b="1">
                <a:solidFill>
                  <a:srgbClr val="56D7CB"/>
                </a:solidFill>
                <a:latin typeface="DejaVu Sans"/>
                <a:ea typeface="DejaVu Sans"/>
                <a:cs typeface="DejaVu Sans"/>
              </a:rPr>
              <a:t>pₜ ≥ 0.5</a:t>
            </a:r>
          </a:p>
        </p:txBody>
      </p:sp>
      <p:sp>
        <p:nvSpPr>
          <p:cNvPr id="6" name="">
            <a:extLst xmlns:a="http://schemas.openxmlformats.org/drawingml/2006/main">
              <a:ext uri="{FF2B5EF4-FFF2-40B4-BE49-F238E27FC236}">
                <a16:creationId xmlns:a16="http://schemas.microsoft.com/office/drawing/2014/main" id="{CA9DED8A-8028-4005-9872-533DD5C38BE9}"/>
              </a:ext>
            </a:extLst>
          </p:cNvPr>
          <p:cNvSpPr>
            <a:spLocks xmlns:a="http://schemas.openxmlformats.org/drawingml/2006/main" noGrp="1"/>
          </p:cNvSpPr>
          <p:nvPr/>
        </p:nvSpPr>
        <p:spPr>
          <a:xfrm xmlns:a="http://schemas.openxmlformats.org/drawingml/2006/main">
            <a:off x="7486650" y="2133600"/>
            <a:ext cx="3943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240"/>
          </a:bodyPr>
          <a:lstStyle xmlns:a="http://schemas.openxmlformats.org/drawingml/2006/main"/>
          <a:p xmlns:a="http://schemas.openxmlformats.org/drawingml/2006/main">
            <a:pPr>
              <a:defRPr sz="1575" b="0">
                <a:solidFill>
                  <a:srgbClr val="F4F7FB"/>
                </a:solidFill>
                <a:latin typeface="DejaVu Sans"/>
                <a:ea typeface="DejaVu Sans"/>
                <a:cs typeface="DejaVu Sans"/>
              </a:defRPr>
            </a:pPr>
            <a:r>
              <a:rPr sz="1575" b="0">
                <a:solidFill>
                  <a:srgbClr val="F4F7FB"/>
                </a:solidFill>
                <a:latin typeface="DejaVu Sans"/>
                <a:ea typeface="DejaVu Sans"/>
                <a:cs typeface="DejaVu Sans"/>
              </a:rPr>
              <a:t>Join detections across gaps ≤ 1 snippet</a:t>
            </a:r>
          </a:p>
        </p:txBody>
      </p:sp>
      <p:sp>
        <p:nvSpPr>
          <p:cNvPr id="7" name="">
            <a:extLst xmlns:a="http://schemas.openxmlformats.org/drawingml/2006/main">
              <a:ext uri="{FF2B5EF4-FFF2-40B4-BE49-F238E27FC236}">
                <a16:creationId xmlns:a16="http://schemas.microsoft.com/office/drawing/2014/main" id="{49A4E21C-4BD0-4C49-82F1-08ADC881CC08}"/>
              </a:ext>
            </a:extLst>
          </p:cNvPr>
          <p:cNvSpPr>
            <a:spLocks xmlns:a="http://schemas.openxmlformats.org/drawingml/2006/main" noGrp="1"/>
          </p:cNvSpPr>
          <p:nvPr/>
        </p:nvSpPr>
        <p:spPr>
          <a:xfrm xmlns:a="http://schemas.openxmlformats.org/drawingml/2006/main">
            <a:off x="7486650" y="2705100"/>
            <a:ext cx="394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4F7FB"/>
                </a:solidFill>
                <a:latin typeface="DejaVu Sans"/>
                <a:ea typeface="DejaVu Sans"/>
                <a:cs typeface="DejaVu Sans"/>
              </a:defRPr>
            </a:pPr>
            <a:r>
              <a:rPr sz="1575" b="0">
                <a:solidFill>
                  <a:srgbClr val="F4F7FB"/>
                </a:solidFill>
                <a:latin typeface="DejaVu Sans"/>
                <a:ea typeface="DejaVu Sans"/>
                <a:cs typeface="DejaVu Sans"/>
              </a:rPr>
              <a:t>Require ≥ 2 snippets</a:t>
            </a:r>
          </a:p>
        </p:txBody>
      </p:sp>
      <p:sp>
        <p:nvSpPr>
          <p:cNvPr id="8" name="">
            <a:extLst xmlns:a="http://schemas.openxmlformats.org/drawingml/2006/main">
              <a:ext uri="{FF2B5EF4-FFF2-40B4-BE49-F238E27FC236}">
                <a16:creationId xmlns:a16="http://schemas.microsoft.com/office/drawing/2014/main" id="{3C7A2821-F315-487F-806F-01047C426D08}"/>
              </a:ext>
            </a:extLst>
          </p:cNvPr>
          <p:cNvSpPr>
            <a:spLocks xmlns:a="http://schemas.openxmlformats.org/drawingml/2006/main" noGrp="1"/>
          </p:cNvSpPr>
          <p:nvPr/>
        </p:nvSpPr>
        <p:spPr>
          <a:xfrm xmlns:a="http://schemas.openxmlformats.org/drawingml/2006/main">
            <a:off x="7486650" y="3257550"/>
            <a:ext cx="3943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64-frame grid: 1 snippet ≈ 2.67 s</a:t>
            </a:r>
          </a:p>
        </p:txBody>
      </p:sp>
      <p:sp>
        <p:nvSpPr>
          <p:cNvPr id="9" name="">
            <a:extLst xmlns:a="http://schemas.openxmlformats.org/drawingml/2006/main">
              <a:ext uri="{FF2B5EF4-FFF2-40B4-BE49-F238E27FC236}">
                <a16:creationId xmlns:a16="http://schemas.microsoft.com/office/drawing/2014/main" id="{BA604BA5-F787-4BC9-AD04-E34615386538}"/>
              </a:ext>
            </a:extLst>
          </p:cNvPr>
          <p:cNvSpPr>
            <a:spLocks xmlns:a="http://schemas.openxmlformats.org/drawingml/2006/main" noGrp="1"/>
          </p:cNvSpPr>
          <p:nvPr/>
        </p:nvSpPr>
        <p:spPr>
          <a:xfrm xmlns:a="http://schemas.openxmlformats.org/drawingml/2006/main">
            <a:off x="7486650" y="40005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F4C66A"/>
                </a:solidFill>
                <a:latin typeface="DejaVu Sans"/>
                <a:ea typeface="DejaVu Sans"/>
                <a:cs typeface="DejaVu Sans"/>
              </a:defRPr>
            </a:pPr>
            <a:r>
              <a:rPr sz="1425" b="1">
                <a:solidFill>
                  <a:srgbClr val="F4C66A"/>
                </a:solidFill>
                <a:latin typeface="DejaVu Sans"/>
                <a:ea typeface="DejaVu Sans"/>
                <a:cs typeface="DejaVu Sans"/>
              </a:rPr>
              <a:t>Test metrics</a:t>
            </a:r>
          </a:p>
        </p:txBody>
      </p:sp>
      <p:sp>
        <p:nvSpPr>
          <p:cNvPr id="10" name="">
            <a:extLst xmlns:a="http://schemas.openxmlformats.org/drawingml/2006/main">
              <a:ext uri="{FF2B5EF4-FFF2-40B4-BE49-F238E27FC236}">
                <a16:creationId xmlns:a16="http://schemas.microsoft.com/office/drawing/2014/main" id="{81D76EFC-04EC-48DF-AB43-85FBA6F73984}"/>
              </a:ext>
            </a:extLst>
          </p:cNvPr>
          <p:cNvSpPr>
            <a:spLocks xmlns:a="http://schemas.openxmlformats.org/drawingml/2006/main" noGrp="1"/>
          </p:cNvSpPr>
          <p:nvPr/>
        </p:nvSpPr>
        <p:spPr>
          <a:xfrm xmlns:a="http://schemas.openxmlformats.org/drawingml/2006/main">
            <a:off x="7486650" y="434340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7FB"/>
                </a:solidFill>
                <a:latin typeface="DejaVu Sans"/>
                <a:ea typeface="DejaVu Sans"/>
                <a:cs typeface="DejaVu Sans"/>
              </a:defRPr>
            </a:pPr>
            <a:r>
              <a:rPr sz="1725" b="1">
                <a:solidFill>
                  <a:srgbClr val="F4F7FB"/>
                </a:solidFill>
                <a:latin typeface="DejaVu Sans"/>
                <a:ea typeface="DejaVu Sans"/>
                <a:cs typeface="DejaVu Sans"/>
              </a:rPr>
              <a:t>Global PR-AUC  0.7981</a:t>
            </a:r>
          </a:p>
        </p:txBody>
      </p:sp>
      <p:sp>
        <p:nvSpPr>
          <p:cNvPr id="11" name="">
            <a:extLst xmlns:a="http://schemas.openxmlformats.org/drawingml/2006/main">
              <a:ext uri="{FF2B5EF4-FFF2-40B4-BE49-F238E27FC236}">
                <a16:creationId xmlns:a16="http://schemas.microsoft.com/office/drawing/2014/main" id="{B6950DAE-8095-4824-9A74-AC1B68594610}"/>
              </a:ext>
            </a:extLst>
          </p:cNvPr>
          <p:cNvSpPr>
            <a:spLocks xmlns:a="http://schemas.openxmlformats.org/drawingml/2006/main" noGrp="1"/>
          </p:cNvSpPr>
          <p:nvPr/>
        </p:nvSpPr>
        <p:spPr>
          <a:xfrm xmlns:a="http://schemas.openxmlformats.org/drawingml/2006/main">
            <a:off x="7486650" y="472440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7FB"/>
                </a:solidFill>
                <a:latin typeface="DejaVu Sans"/>
                <a:ea typeface="DejaVu Sans"/>
                <a:cs typeface="DejaVu Sans"/>
              </a:defRPr>
            </a:pPr>
            <a:r>
              <a:rPr sz="1725" b="1">
                <a:solidFill>
                  <a:srgbClr val="F4F7FB"/>
                </a:solidFill>
                <a:latin typeface="DejaVu Sans"/>
                <a:ea typeface="DejaVu Sans"/>
                <a:cs typeface="DejaVu Sans"/>
              </a:rPr>
              <a:t>Per-video AP  0.7613</a:t>
            </a:r>
          </a:p>
        </p:txBody>
      </p:sp>
      <p:sp>
        <p:nvSpPr>
          <p:cNvPr id="12" name="">
            <a:extLst xmlns:a="http://schemas.openxmlformats.org/drawingml/2006/main">
              <a:ext uri="{FF2B5EF4-FFF2-40B4-BE49-F238E27FC236}">
                <a16:creationId xmlns:a16="http://schemas.microsoft.com/office/drawing/2014/main" id="{9CDEB8A3-243F-4EF4-9088-B138509589B5}"/>
              </a:ext>
            </a:extLst>
          </p:cNvPr>
          <p:cNvSpPr>
            <a:spLocks xmlns:a="http://schemas.openxmlformats.org/drawingml/2006/main" noGrp="1"/>
          </p:cNvSpPr>
          <p:nvPr/>
        </p:nvSpPr>
        <p:spPr>
          <a:xfrm xmlns:a="http://schemas.openxmlformats.org/drawingml/2006/main">
            <a:off x="7486650" y="527685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DCE7F5"/>
                </a:solidFill>
                <a:latin typeface="DejaVu Sans"/>
                <a:ea typeface="DejaVu Sans"/>
                <a:cs typeface="DejaVu Sans"/>
              </a:defRPr>
            </a:pPr>
            <a:r>
              <a:rPr sz="1425" b="0">
                <a:solidFill>
                  <a:srgbClr val="DCE7F5"/>
                </a:solidFill>
                <a:latin typeface="DejaVu Sans"/>
                <a:ea typeface="DejaVu Sans"/>
                <a:cs typeface="DejaVu Sans"/>
              </a:rPr>
              <a:t>Intervals are post-processing; exact boundaries are not trained.</a:t>
            </a:r>
          </a:p>
        </p:txBody>
      </p:sp>
      <p:sp>
        <p:nvSpPr>
          <p:cNvPr id="13" name="">
            <a:extLst xmlns:a="http://schemas.openxmlformats.org/drawingml/2006/main">
              <a:ext uri="{FF2B5EF4-FFF2-40B4-BE49-F238E27FC236}">
                <a16:creationId xmlns:a16="http://schemas.microsoft.com/office/drawing/2014/main" id="{C86A257C-13EC-4B7B-8799-C46374BEB2C2}"/>
              </a:ext>
            </a:extLst>
          </p:cNvPr>
          <p:cNvSpPr>
            <a:spLocks xmlns:a="http://schemas.openxmlformats.org/drawingml/2006/main" noGrp="1"/>
          </p:cNvSpPr>
          <p:nvPr/>
        </p:nvSpPr>
        <p:spPr>
          <a:xfrm xmlns:a="http://schemas.openxmlformats.org/drawingml/2006/main">
            <a:off x="762000" y="58293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0">
                <a:solidFill>
                  <a:srgbClr val="B4C0D2"/>
                </a:solidFill>
                <a:latin typeface="DejaVu Sans"/>
                <a:ea typeface="DejaVu Sans"/>
                <a:cs typeface="DejaVu Sans"/>
              </a:defRPr>
            </a:pPr>
            <a:r>
              <a:rPr sz="1350" b="0">
                <a:solidFill>
                  <a:srgbClr val="B4C0D2"/>
                </a:solidFill>
                <a:latin typeface="DejaVu Sans"/>
                <a:ea typeface="DejaVu Sans"/>
                <a:cs typeface="DejaVu Sans"/>
              </a:rPr>
              <a:t>Class AP shown from this run; abuse has 11 positive test clips.</a:t>
            </a:r>
          </a:p>
        </p:txBody>
      </p:sp>
    </p:spTree>
    <p:extLst>
      <p:ext uri="{BB962C8B-B14F-4D97-AF65-F5344CB8AC3E}">
        <p14:creationId xmlns:p14="http://schemas.microsoft.com/office/powerpoint/2010/main" val="16257902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2026-10-08T08:52:14.4230000Z</dcterms:created>
  <dcterms:modified xsi:type="dcterms:W3CDTF">2026-10-08T08:52:14.4230000Z</dcterms:modified>
</coreProperties>
</file>